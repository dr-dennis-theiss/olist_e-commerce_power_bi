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2192000" cy="6858000"/>
  <p:notesSz cx="6858000" cy="12192000"/>
  <p:embeddedFontLst>
    <p:embeddedFont>
      <p:font typeface="Aptos Narrow" panose="020B0004020202020204" pitchFamily="34" charset="0"/>
      <p:regular r:id="rId14"/>
      <p:bold r:id="rId15"/>
      <p:italic r:id="rId16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8D4D4"/>
    <a:srgbClr val="FFFFFF"/>
    <a:srgbClr val="F2EE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10"/>
  </p:normalViewPr>
  <p:slideViewPr>
    <p:cSldViewPr snapToGrid="0" snapToObjects="1">
      <p:cViewPr varScale="1">
        <p:scale>
          <a:sx n="101" d="100"/>
          <a:sy n="101" d="100"/>
        </p:scale>
        <p:origin x="876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font" Target="fonts/font3.fntdata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font" Target="fonts/font2.fntdata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1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8085000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de-DE" dirty="0">
              <a:latin typeface="Aptos Narrow" panose="020B0004020202020204" pitchFamily="34" charset="0"/>
            </a:endParaRPr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latin typeface="Aptos Narrow" panose="020B0004020202020204" pitchFamily="34" charset="0"/>
              </a:rPr>
              <a:t>- </a:t>
            </a:r>
            <a:r>
              <a:rPr lang="en-US" dirty="0" err="1">
                <a:latin typeface="Aptos Narrow" panose="020B0004020202020204" pitchFamily="34" charset="0"/>
              </a:rPr>
              <a:t>Begrüßung</a:t>
            </a:r>
            <a:r>
              <a:rPr lang="en-US" dirty="0">
                <a:latin typeface="Aptos Narrow" panose="020B0004020202020204" pitchFamily="34" charset="0"/>
              </a:rPr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>
                <a:latin typeface="Aptos Narrow" panose="020B0004020202020204" pitchFamily="34" charset="0"/>
              </a:rPr>
              <a:t>1</a:t>
            </a:fld>
            <a:endParaRPr lang="en-US">
              <a:latin typeface="Aptos Narrow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de-DE" dirty="0">
              <a:latin typeface="Aptos Narrow" panose="020B0004020202020204" pitchFamily="34" charset="0"/>
            </a:endParaRPr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de-D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Olist</a:t>
            </a:r>
            <a:r>
              <a:rPr lang="de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ist größter brasilianischer Online-Marktplatz und unterstützt Händler beim Verkauf ihrer Produkte über verschiedene E-Commerce-Plattformen.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de-D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Olist</a:t>
            </a:r>
            <a:r>
              <a:rPr lang="de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-Marketing- und Vertriebsteam.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de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Klassischer Ablauf einer Datenanalyse.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>
                <a:latin typeface="Aptos Narrow" panose="020B0004020202020204" pitchFamily="34" charset="0"/>
              </a:rPr>
              <a:t>2</a:t>
            </a:fld>
            <a:endParaRPr lang="en-US">
              <a:latin typeface="Aptos Narrow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de-DE" dirty="0">
              <a:latin typeface="Aptos Narrow" panose="020B0004020202020204" pitchFamily="34" charset="0"/>
            </a:endParaRPr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de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Um Problemstellung systematisch zu beantworten, wurde Analyse entlang von drei Leitfragen aufgebaut, die Analyse und Präsentation roten Faden geben.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de-DE" sz="1200" dirty="0">
              <a:solidFill>
                <a:srgbClr val="000000"/>
              </a:solidFill>
              <a:latin typeface="Aptos Narrow" panose="020B0004020202020204" pitchFamily="34" charset="0"/>
              <a:ea typeface="Source Sans 3" pitchFamily="34" charset="-122"/>
              <a:cs typeface="Source Sans 3" pitchFamily="34" charset="-12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>
                <a:latin typeface="Aptos Narrow" panose="020B0004020202020204" pitchFamily="34" charset="0"/>
              </a:rPr>
              <a:t>3</a:t>
            </a:fld>
            <a:endParaRPr lang="en-US">
              <a:latin typeface="Aptos Narrow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de-DE" dirty="0">
              <a:latin typeface="Aptos Narrow" panose="020B0004020202020204" pitchFamily="34" charset="0"/>
            </a:endParaRPr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de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Tabelle Sellers mit einer Marketing-Tabelle zusammengeführt, erkennbar an Spaltennamen.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de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…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de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Analyseprozess iterativ, nicht linear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de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Jede Phase baut auf den Erkenntnissen der vorherigen auf und kann zu einer vorherigen zurückführen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>
                <a:latin typeface="Aptos Narrow" panose="020B0004020202020204" pitchFamily="34" charset="0"/>
              </a:rPr>
              <a:t>4</a:t>
            </a:fld>
            <a:endParaRPr lang="en-US">
              <a:latin typeface="Aptos Narrow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de-DE" dirty="0">
              <a:latin typeface="Aptos Narrow" panose="020B0004020202020204" pitchFamily="34" charset="0"/>
            </a:endParaRPr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de-DE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 Rahmen der Explorativen Datenanalyse </a:t>
            </a:r>
            <a:r>
              <a:rPr lang="de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zugleich die Datentypen geändert.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de-DE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Mehrere Datenqualitätsprobleme.</a:t>
            </a:r>
            <a:endParaRPr lang="de-DE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de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Marketinglücken je nach Attribut bei 88 bis 91 Prozent der Seller. 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de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 numerischer Wert in der Spalte </a:t>
            </a:r>
            <a:r>
              <a:rPr lang="de-D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seller_city</a:t>
            </a:r>
            <a:r>
              <a:rPr lang="de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sowie Bestellungen mit dem Status „</a:t>
            </a:r>
            <a:r>
              <a:rPr lang="de-D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canceled</a:t>
            </a:r>
            <a:r>
              <a:rPr lang="de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“, obwohl Versanddaten vorhanden.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de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Zweimal enthielt </a:t>
            </a:r>
            <a:r>
              <a:rPr lang="de-D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Behaviour</a:t>
            </a:r>
            <a:r>
              <a:rPr lang="de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Profiles</a:t>
            </a:r>
            <a:r>
              <a:rPr lang="de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„</a:t>
            </a:r>
            <a:r>
              <a:rPr lang="de-D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cat</a:t>
            </a:r>
            <a:r>
              <a:rPr lang="de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wolf“ oder „</a:t>
            </a:r>
            <a:r>
              <a:rPr lang="de-D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eagle</a:t>
            </a:r>
            <a:r>
              <a:rPr lang="de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de-D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cat</a:t>
            </a:r>
            <a:r>
              <a:rPr lang="de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“.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de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…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de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Keine Duplikate gefunden.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de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Null-Werte: Unterschiedliche Herangehensweise, z.B. auch zumindest plausible NULL-Werte bei Marketing-Datumsspalten erhalten (nicht jeder Händler muss Kontakt zum Marketing haben).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en-US" dirty="0">
                <a:latin typeface="Aptos Narrow" panose="020B0004020202020204" pitchFamily="34" charset="0"/>
              </a:rPr>
              <a:t>Fehler in </a:t>
            </a:r>
            <a:r>
              <a:rPr lang="en-US" dirty="0" err="1">
                <a:latin typeface="Aptos Narrow" panose="020B0004020202020204" pitchFamily="34" charset="0"/>
              </a:rPr>
              <a:t>Seller_City</a:t>
            </a:r>
            <a:r>
              <a:rPr lang="en-US" dirty="0">
                <a:latin typeface="Aptos Narrow" panose="020B0004020202020204" pitchFamily="34" charset="0"/>
              </a:rPr>
              <a:t> (</a:t>
            </a:r>
            <a:r>
              <a:rPr lang="en-US" dirty="0" err="1">
                <a:latin typeface="Aptos Narrow" panose="020B0004020202020204" pitchFamily="34" charset="0"/>
              </a:rPr>
              <a:t>über</a:t>
            </a:r>
            <a:r>
              <a:rPr lang="en-US" dirty="0">
                <a:latin typeface="Aptos Narrow" panose="020B0004020202020204" pitchFamily="34" charset="0"/>
              </a:rPr>
              <a:t> </a:t>
            </a:r>
            <a:r>
              <a:rPr lang="en-US" dirty="0" err="1">
                <a:latin typeface="Aptos Narrow" panose="020B0004020202020204" pitchFamily="34" charset="0"/>
              </a:rPr>
              <a:t>Zip_Code</a:t>
            </a:r>
            <a:r>
              <a:rPr lang="en-US" dirty="0">
                <a:latin typeface="Aptos Narrow" panose="020B0004020202020204" pitchFamily="34" charset="0"/>
              </a:rPr>
              <a:t> = Rio de Janeiro), </a:t>
            </a:r>
            <a:r>
              <a:rPr lang="en-US" dirty="0" err="1">
                <a:latin typeface="Aptos Narrow" panose="020B0004020202020204" pitchFamily="34" charset="0"/>
              </a:rPr>
              <a:t>Behaviour_Profile</a:t>
            </a:r>
            <a:r>
              <a:rPr lang="en-US" dirty="0">
                <a:latin typeface="Aptos Narrow" panose="020B0004020202020204" pitchFamily="34" charset="0"/>
              </a:rPr>
              <a:t>: auf den </a:t>
            </a:r>
            <a:r>
              <a:rPr lang="en-US" dirty="0" err="1">
                <a:latin typeface="Aptos Narrow" panose="020B0004020202020204" pitchFamily="34" charset="0"/>
              </a:rPr>
              <a:t>jeweils</a:t>
            </a:r>
            <a:r>
              <a:rPr lang="en-US" dirty="0">
                <a:latin typeface="Aptos Narrow" panose="020B0004020202020204" pitchFamily="34" charset="0"/>
              </a:rPr>
              <a:t> </a:t>
            </a:r>
            <a:r>
              <a:rPr lang="en-US" dirty="0" err="1">
                <a:latin typeface="Aptos Narrow" panose="020B0004020202020204" pitchFamily="34" charset="0"/>
              </a:rPr>
              <a:t>ersten</a:t>
            </a:r>
            <a:r>
              <a:rPr lang="en-US" dirty="0">
                <a:latin typeface="Aptos Narrow" panose="020B0004020202020204" pitchFamily="34" charset="0"/>
              </a:rPr>
              <a:t> </a:t>
            </a:r>
            <a:r>
              <a:rPr lang="en-US" dirty="0" err="1">
                <a:latin typeface="Aptos Narrow" panose="020B0004020202020204" pitchFamily="34" charset="0"/>
              </a:rPr>
              <a:t>gekürzt</a:t>
            </a:r>
            <a:r>
              <a:rPr lang="en-US" dirty="0">
                <a:latin typeface="Aptos Narrow" panose="020B0004020202020204" pitchFamily="34" charset="0"/>
              </a:rPr>
              <a:t>.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en-US" dirty="0">
                <a:latin typeface="Aptos Narrow" panose="020B0004020202020204" pitchFamily="34" charset="0"/>
              </a:rPr>
              <a:t>WICHTIG: </a:t>
            </a:r>
            <a:r>
              <a:rPr lang="en-US" dirty="0" err="1">
                <a:latin typeface="Aptos Narrow" panose="020B0004020202020204" pitchFamily="34" charset="0"/>
              </a:rPr>
              <a:t>alles</a:t>
            </a:r>
            <a:r>
              <a:rPr lang="en-US" dirty="0">
                <a:latin typeface="Aptos Narrow" panose="020B0004020202020204" pitchFamily="34" charset="0"/>
              </a:rPr>
              <a:t> </a:t>
            </a:r>
            <a:r>
              <a:rPr lang="en-US" dirty="0" err="1">
                <a:latin typeface="Aptos Narrow" panose="020B0004020202020204" pitchFamily="34" charset="0"/>
              </a:rPr>
              <a:t>dokumentiert</a:t>
            </a:r>
            <a:r>
              <a:rPr lang="en-US" dirty="0">
                <a:latin typeface="Aptos Narrow" panose="020B0004020202020204" pitchFamily="34" charset="0"/>
              </a:rPr>
              <a:t>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>
                <a:latin typeface="Aptos Narrow" panose="020B0004020202020204" pitchFamily="34" charset="0"/>
              </a:rPr>
              <a:t>5</a:t>
            </a:fld>
            <a:endParaRPr lang="en-US">
              <a:latin typeface="Aptos Narrow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de-DE" dirty="0">
              <a:latin typeface="Aptos Narrow" panose="020B0004020202020204" pitchFamily="34" charset="0"/>
            </a:endParaRPr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de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Wenden wir uns nun der Analyse der Daten an sich zu: Welche Faktoren bestimmen den Geschäftserfolg von </a:t>
            </a:r>
            <a:r>
              <a:rPr lang="de-D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Olist</a:t>
            </a:r>
            <a:r>
              <a:rPr lang="de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?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de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Produkte: Etwa 33.000 in über 70 Produktkategorien.</a:t>
            </a:r>
            <a:endParaRPr lang="en-US" sz="1200" b="0" i="0" kern="1200" dirty="0">
              <a:solidFill>
                <a:schemeClr val="tx1"/>
              </a:solidFill>
              <a:effectLst/>
              <a:latin typeface="Aptos Narrow" panose="020B0004020202020204" pitchFamily="34" charset="0"/>
              <a:ea typeface="+mn-ea"/>
              <a:cs typeface="+mn-cs"/>
            </a:endParaRP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en-US" dirty="0">
                <a:latin typeface="Aptos Narrow" panose="020B0004020202020204" pitchFamily="34" charset="0"/>
              </a:rPr>
              <a:t>2017 </a:t>
            </a:r>
            <a:r>
              <a:rPr lang="en-US" dirty="0" err="1">
                <a:latin typeface="Aptos Narrow" panose="020B0004020202020204" pitchFamily="34" charset="0"/>
              </a:rPr>
              <a:t>einziges</a:t>
            </a:r>
            <a:r>
              <a:rPr lang="en-US" dirty="0">
                <a:latin typeface="Aptos Narrow" panose="020B0004020202020204" pitchFamily="34" charset="0"/>
              </a:rPr>
              <a:t> </a:t>
            </a:r>
            <a:r>
              <a:rPr lang="en-US" dirty="0" err="1">
                <a:latin typeface="Aptos Narrow" panose="020B0004020202020204" pitchFamily="34" charset="0"/>
              </a:rPr>
              <a:t>volles</a:t>
            </a:r>
            <a:r>
              <a:rPr lang="en-US" dirty="0">
                <a:latin typeface="Aptos Narrow" panose="020B0004020202020204" pitchFamily="34" charset="0"/>
              </a:rPr>
              <a:t> Jahr in </a:t>
            </a:r>
            <a:r>
              <a:rPr lang="en-US" dirty="0" err="1">
                <a:latin typeface="Aptos Narrow" panose="020B0004020202020204" pitchFamily="34" charset="0"/>
              </a:rPr>
              <a:t>Daten</a:t>
            </a:r>
            <a:r>
              <a:rPr lang="en-US" dirty="0">
                <a:latin typeface="Aptos Narrow" panose="020B0004020202020204" pitchFamily="34" charset="0"/>
              </a:rPr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>
                <a:latin typeface="Aptos Narrow" panose="020B0004020202020204" pitchFamily="34" charset="0"/>
              </a:rPr>
              <a:t>6</a:t>
            </a:fld>
            <a:endParaRPr lang="en-US">
              <a:latin typeface="Aptos Narrow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de-DE" dirty="0">
              <a:latin typeface="Aptos Narrow" panose="020B0004020202020204" pitchFamily="34" charset="0"/>
            </a:endParaRPr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de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Wenn wir zur Kundenanalyse übergehen, zeigt sich, wie bereits erwähnt, eine deutliche regionale Konzentration.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de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Beliebtestes Zahlungsmittel: </a:t>
            </a:r>
            <a:r>
              <a:rPr lang="de-D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Credit</a:t>
            </a:r>
            <a:r>
              <a:rPr lang="de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Card (Umsatz ca. 78,5 %, bei Zahlungsanzahl ca. 74 %).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de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Hohe Reviews eben nicht bei: 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Health &amp; Beauty, Watches &amp; Gifts, Bed &amp; Bath Table.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Größter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Einzelbestellumsatz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etwa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13.400 </a:t>
            </a:r>
            <a:r>
              <a:rPr lang="de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R$, Durchschnittsumsatz pro Bestellung 137,79 R$.</a:t>
            </a:r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>
                <a:latin typeface="Aptos Narrow" panose="020B0004020202020204" pitchFamily="34" charset="0"/>
              </a:rPr>
              <a:t>7</a:t>
            </a:fld>
            <a:endParaRPr lang="en-US">
              <a:latin typeface="Aptos Narrow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de-DE" dirty="0">
              <a:latin typeface="Aptos Narrow" panose="020B0004020202020204" pitchFamily="34" charset="0"/>
            </a:endParaRPr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de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 Analyse der über 3.000 Verkäufer ergibt ...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de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Durchschnittlicher Umsatz je Verkäufer bei 4.380 R$, die Top Seller erreichen über 200 Tsd. R$ (in etwa das 50-fache +).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de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Ø Review Rating: 4,03.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de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Ø Review Rate der Top-5-Seller nach Ordervolumen auf niedrigerem Niveau in der Spitze: 4,07 bis 3,81.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de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Ø On Time Rate = 92,27 %. 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de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Letztendlich ermöglicht diese Kombination in der Betrachtung eine differenzierte Bewertung und erscheint als wesentlich aussagekräftiger als eine reine Umsatzfixierung.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>
                <a:latin typeface="Aptos Narrow" panose="020B0004020202020204" pitchFamily="34" charset="0"/>
              </a:rPr>
              <a:t>8</a:t>
            </a:fld>
            <a:endParaRPr lang="en-US">
              <a:latin typeface="Aptos Narrow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de-DE" dirty="0">
              <a:latin typeface="Aptos Narrow" panose="020B0004020202020204" pitchFamily="34" charset="0"/>
            </a:endParaRPr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de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Für die Frage, welche Marketingattribute diese Verkäufer für </a:t>
            </a:r>
            <a:r>
              <a:rPr lang="de-D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Olist</a:t>
            </a:r>
            <a:r>
              <a:rPr lang="de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besitzen …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de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Trotz Einschränkung der Aussagekraft lassen sich einige interessante Muster erkennen.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de-D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Online_Big</a:t>
            </a:r>
            <a:r>
              <a:rPr lang="de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79 Seller.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de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Für Marketing und Vertrieb ist jedoch nicht nur Umsatz relevant, sondern auch Geschwindigkeit, mit der Leads zu Verkäufern werden bzw. wie sich unterschiedliche Lead-Profile im </a:t>
            </a:r>
            <a:r>
              <a:rPr lang="de-D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Akquiseprozess</a:t>
            </a:r>
            <a:r>
              <a:rPr lang="de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verhalten.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de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…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de-D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Behaviour</a:t>
            </a:r>
            <a:r>
              <a:rPr lang="de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Profile </a:t>
            </a:r>
            <a:r>
              <a:rPr lang="de-D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cat</a:t>
            </a:r>
            <a:r>
              <a:rPr lang="de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soll „vorsichtig, abwartend“ sein.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de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Neben Lead Type und </a:t>
            </a:r>
            <a:r>
              <a:rPr lang="de-D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Behaviour</a:t>
            </a:r>
            <a:r>
              <a:rPr lang="de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Profile zeigen weitere Marketingattribute deutliche Unterschiede im späteren Verkaufserfolg.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de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…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de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Auch zwischen den Business Segments zeigen sich deutliche Unterschiede im Umsatzpotenzial, besonders auffällig Watches: Small </a:t>
            </a:r>
            <a:r>
              <a:rPr lang="de-D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Appliances</a:t>
            </a:r>
            <a:r>
              <a:rPr lang="de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(Kleingeräte) folgen mit 6,81 Tsd.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>
                <a:latin typeface="Aptos Narrow" panose="020B0004020202020204" pitchFamily="34" charset="0"/>
              </a:rPr>
              <a:t>9</a:t>
            </a:fld>
            <a:endParaRPr lang="en-US">
              <a:latin typeface="Aptos Narrow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de-DE" dirty="0">
              <a:latin typeface="Aptos Narrow" panose="020B0004020202020204" pitchFamily="34" charset="0"/>
            </a:endParaRPr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de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Um </a:t>
            </a:r>
            <a:r>
              <a:rPr lang="de-D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Olist</a:t>
            </a:r>
            <a:r>
              <a:rPr lang="de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die Möglichkeit zu schaffen, Verkäufer systematisch bewerten zu können …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de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DAX-Measures.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de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Revenue und Orders zum jeweiligen Bestwert skaliert (Seller mit höchstem Umsatz = 40 Punkte, höchstes Ordervolumen = 25 Punkte), für alle anderen Seller relativ dazu berechnet.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de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Bei </a:t>
            </a:r>
            <a:r>
              <a:rPr lang="de-D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Delivery</a:t>
            </a:r>
            <a:r>
              <a:rPr lang="de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und Review wurden Pünktlichkeitsquote und durchschnittlichen Review Ratings der Kunden in entsprechende individuelle Punktzahlen umgerechnet.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de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Niedrigster Score: 0,02. Ø 31,58.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>
                <a:latin typeface="Aptos Narrow" panose="020B0004020202020204" pitchFamily="34" charset="0"/>
              </a:rPr>
              <a:t>10</a:t>
            </a:fld>
            <a:endParaRPr lang="en-US">
              <a:latin typeface="Aptos Narrow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de-DE" dirty="0">
              <a:latin typeface="Aptos Narrow" panose="020B0004020202020204" pitchFamily="34" charset="0"/>
            </a:endParaRPr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de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 Bezug auf die drei Leitfragen drei konkrete Handlungsempfehlungen.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de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Beispiel Nr. 2: Verkäufer mit hohem Seller </a:t>
            </a:r>
            <a:r>
              <a:rPr lang="de-DE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Score für </a:t>
            </a:r>
            <a:r>
              <a:rPr lang="de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Marketingkampagnen, Pilotprojekte oder Wachstumspartnerschaften bevorzugt ausgewählt.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de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Danksagung.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>
                <a:latin typeface="Aptos Narrow" panose="020B0004020202020204" pitchFamily="34" charset="0"/>
              </a:rPr>
              <a:t>11</a:t>
            </a:fld>
            <a:endParaRPr lang="en-US">
              <a:latin typeface="Aptos Narrow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master 1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EDED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de-DE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svg"/><Relationship Id="rId4" Type="http://schemas.openxmlformats.org/officeDocument/2006/relationships/image" Target="../media/image3.sv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sv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4571886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192250" y="1182588"/>
            <a:ext cx="6469994" cy="181267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800" b="1" dirty="0" err="1">
                <a:solidFill>
                  <a:srgbClr val="000000"/>
                </a:solidFill>
                <a:latin typeface="Aptos Narrow" panose="020B0004020202020204" pitchFamily="34" charset="0"/>
                <a:ea typeface="Montserrat Bold" pitchFamily="34" charset="-122"/>
                <a:cs typeface="Montserrat Bold" pitchFamily="34" charset="-120"/>
              </a:rPr>
              <a:t>Analyse</a:t>
            </a:r>
            <a:r>
              <a:rPr lang="en-US" sz="3800" b="1" dirty="0">
                <a:solidFill>
                  <a:srgbClr val="000000"/>
                </a:solidFill>
                <a:latin typeface="Aptos Narrow" panose="020B0004020202020204" pitchFamily="34" charset="0"/>
                <a:ea typeface="Montserrat Bold" pitchFamily="34" charset="-122"/>
                <a:cs typeface="Montserrat Bold" pitchFamily="34" charset="-120"/>
              </a:rPr>
              <a:t> der </a:t>
            </a:r>
            <a:r>
              <a:rPr lang="en-US" sz="3800" b="1" dirty="0" err="1">
                <a:solidFill>
                  <a:srgbClr val="000000"/>
                </a:solidFill>
                <a:latin typeface="Aptos Narrow" panose="020B0004020202020204" pitchFamily="34" charset="0"/>
                <a:ea typeface="Montserrat Bold" pitchFamily="34" charset="-122"/>
                <a:cs typeface="Montserrat Bold" pitchFamily="34" charset="-120"/>
              </a:rPr>
              <a:t>Verkäuferperformance</a:t>
            </a:r>
            <a:r>
              <a:rPr lang="en-US" sz="3800" b="1" dirty="0">
                <a:solidFill>
                  <a:srgbClr val="000000"/>
                </a:solidFill>
                <a:latin typeface="Aptos Narrow" panose="020B0004020202020204" pitchFamily="34" charset="0"/>
                <a:ea typeface="Montserrat Bold" pitchFamily="34" charset="-122"/>
                <a:cs typeface="Montserrat Bold" pitchFamily="34" charset="-120"/>
              </a:rPr>
              <a:t> und Marketingoptimierung </a:t>
            </a:r>
            <a:r>
              <a:rPr lang="en-US" sz="3800" b="1" dirty="0" err="1">
                <a:solidFill>
                  <a:srgbClr val="000000"/>
                </a:solidFill>
                <a:latin typeface="Aptos Narrow" panose="020B0004020202020204" pitchFamily="34" charset="0"/>
                <a:ea typeface="Montserrat Bold" pitchFamily="34" charset="-122"/>
                <a:cs typeface="Montserrat Bold" pitchFamily="34" charset="-120"/>
              </a:rPr>
              <a:t>bei</a:t>
            </a:r>
            <a:r>
              <a:rPr lang="en-US" sz="3800" b="1" dirty="0">
                <a:solidFill>
                  <a:srgbClr val="000000"/>
                </a:solidFill>
                <a:latin typeface="Aptos Narrow" panose="020B0004020202020204" pitchFamily="34" charset="0"/>
                <a:ea typeface="Montserrat Bold" pitchFamily="34" charset="-122"/>
                <a:cs typeface="Montserrat Bold" pitchFamily="34" charset="-120"/>
              </a:rPr>
              <a:t> </a:t>
            </a:r>
            <a:r>
              <a:rPr lang="en-US" sz="3800" b="1" dirty="0" err="1">
                <a:solidFill>
                  <a:srgbClr val="000000"/>
                </a:solidFill>
                <a:latin typeface="Aptos Narrow" panose="020B0004020202020204" pitchFamily="34" charset="0"/>
                <a:ea typeface="Montserrat Bold" pitchFamily="34" charset="-122"/>
                <a:cs typeface="Montserrat Bold" pitchFamily="34" charset="-120"/>
              </a:rPr>
              <a:t>Olist</a:t>
            </a:r>
            <a:endParaRPr lang="en-US" sz="3800" dirty="0"/>
          </a:p>
        </p:txBody>
      </p:sp>
      <p:sp>
        <p:nvSpPr>
          <p:cNvPr id="4" name="Text 1"/>
          <p:cNvSpPr/>
          <p:nvPr/>
        </p:nvSpPr>
        <p:spPr>
          <a:xfrm>
            <a:off x="5192250" y="3438887"/>
            <a:ext cx="6180181" cy="9267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de-DE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Business-</a:t>
            </a:r>
            <a:r>
              <a:rPr lang="de-DE" dirty="0" err="1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Intelligence</a:t>
            </a:r>
            <a:r>
              <a:rPr lang="de-DE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-gestützte Analyse von Geschäftserfolg, Verkäuferleistung und Marketingdaten (2016 – 2018)</a:t>
            </a:r>
            <a:endParaRPr lang="en-US" dirty="0"/>
          </a:p>
        </p:txBody>
      </p:sp>
      <p:sp>
        <p:nvSpPr>
          <p:cNvPr id="5" name="Shape 2"/>
          <p:cNvSpPr/>
          <p:nvPr/>
        </p:nvSpPr>
        <p:spPr>
          <a:xfrm>
            <a:off x="5192250" y="4809250"/>
            <a:ext cx="6180181" cy="25400"/>
          </a:xfrm>
          <a:prstGeom prst="roundRect">
            <a:avLst>
              <a:gd name="adj" fmla="val 59999"/>
            </a:avLst>
          </a:prstGeom>
          <a:solidFill>
            <a:srgbClr val="3D3838">
              <a:alpha val="50000"/>
            </a:srgbClr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6" name="Text 3"/>
          <p:cNvSpPr/>
          <p:nvPr/>
        </p:nvSpPr>
        <p:spPr>
          <a:xfrm>
            <a:off x="5192250" y="5117424"/>
            <a:ext cx="6789766" cy="30847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25000"/>
              </a:lnSpc>
            </a:pPr>
            <a:r>
              <a:rPr lang="en-US" sz="1600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Dennis Theiß · </a:t>
            </a:r>
            <a:r>
              <a:rPr lang="en-US" sz="1600" dirty="0" err="1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DataSmart</a:t>
            </a:r>
            <a:r>
              <a:rPr lang="en-US" sz="1600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 Point · </a:t>
            </a:r>
            <a:r>
              <a:rPr lang="en-US" sz="1600" dirty="0" err="1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Präsentation</a:t>
            </a:r>
            <a:r>
              <a:rPr lang="en-US" sz="1600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 </a:t>
            </a:r>
            <a:r>
              <a:rPr lang="en-US" sz="1600" dirty="0" err="1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Abschlussprojekt</a:t>
            </a:r>
            <a:r>
              <a:rPr lang="en-US" sz="1600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 Power BI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19814" y="372625"/>
            <a:ext cx="10752067" cy="55512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600" b="1" dirty="0">
                <a:solidFill>
                  <a:srgbClr val="000000"/>
                </a:solidFill>
                <a:latin typeface="Aptos Narrow" panose="020B0004020202020204" pitchFamily="34" charset="0"/>
                <a:ea typeface="Montserrat Bold" pitchFamily="34" charset="-122"/>
                <a:cs typeface="Montserrat Bold" pitchFamily="34" charset="-120"/>
              </a:rPr>
              <a:t>Problemstellung</a:t>
            </a:r>
            <a:r>
              <a:rPr lang="en-US" sz="3450" b="1" dirty="0">
                <a:solidFill>
                  <a:srgbClr val="000000"/>
                </a:solidFill>
                <a:latin typeface="Aptos Narrow" panose="020B0004020202020204" pitchFamily="34" charset="0"/>
                <a:ea typeface="Montserrat Bold" pitchFamily="34" charset="-122"/>
                <a:cs typeface="Montserrat Bold" pitchFamily="34" charset="-120"/>
              </a:rPr>
              <a:t> &amp; Struktur</a:t>
            </a:r>
            <a:endParaRPr lang="en-US" sz="3450" dirty="0"/>
          </a:p>
        </p:txBody>
      </p:sp>
      <p:sp>
        <p:nvSpPr>
          <p:cNvPr id="3" name="Text 1"/>
          <p:cNvSpPr/>
          <p:nvPr/>
        </p:nvSpPr>
        <p:spPr>
          <a:xfrm>
            <a:off x="719913" y="1281594"/>
            <a:ext cx="10752067" cy="723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2000"/>
              </a:lnSpc>
              <a:buNone/>
            </a:pPr>
            <a:r>
              <a:rPr lang="de-DE" dirty="0" err="1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Olist</a:t>
            </a:r>
            <a:r>
              <a:rPr lang="de-DE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 ist der größte brasilianische Online-Marktplatz. Ziel ist die datenbasierte Analyse von Geschäftserfolg, Verkäuferleistung und Marketingattributen zur Unterstützung gezielter Marketing- und Vertriebsentscheidungen.</a:t>
            </a: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719913" y="2359026"/>
            <a:ext cx="390714" cy="24417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600" dirty="0">
                <a:solidFill>
                  <a:srgbClr val="3D3838"/>
                </a:solidFill>
                <a:latin typeface="Aptos Narrow" panose="020B0004020202020204" pitchFamily="34" charset="0"/>
                <a:ea typeface="Montserrat Light" pitchFamily="34" charset="-122"/>
                <a:cs typeface="Montserrat Light" pitchFamily="34" charset="-120"/>
              </a:rPr>
              <a:t>01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719913" y="2665612"/>
            <a:ext cx="3460267" cy="25400"/>
          </a:xfrm>
          <a:prstGeom prst="rect">
            <a:avLst/>
          </a:prstGeom>
          <a:solidFill>
            <a:srgbClr val="2D2E34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6" name="Text 4"/>
          <p:cNvSpPr/>
          <p:nvPr/>
        </p:nvSpPr>
        <p:spPr>
          <a:xfrm>
            <a:off x="719913" y="2814043"/>
            <a:ext cx="3460267" cy="27751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b="1" dirty="0">
                <a:solidFill>
                  <a:srgbClr val="3D3838"/>
                </a:solidFill>
                <a:latin typeface="Aptos Narrow" panose="020B0004020202020204" pitchFamily="34" charset="0"/>
                <a:ea typeface="Montserrat Bold" pitchFamily="34" charset="-122"/>
                <a:cs typeface="Montserrat Bold" pitchFamily="34" charset="-120"/>
              </a:rPr>
              <a:t>Leitfragen</a:t>
            </a: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4365714" y="2359026"/>
            <a:ext cx="390714" cy="24417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600" dirty="0">
                <a:solidFill>
                  <a:srgbClr val="3D3838"/>
                </a:solidFill>
                <a:latin typeface="Aptos Narrow" panose="020B0004020202020204" pitchFamily="34" charset="0"/>
                <a:ea typeface="Montserrat Light" pitchFamily="34" charset="-122"/>
                <a:cs typeface="Montserrat Light" pitchFamily="34" charset="-120"/>
              </a:rPr>
              <a:t>02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365714" y="2665612"/>
            <a:ext cx="3460366" cy="25400"/>
          </a:xfrm>
          <a:prstGeom prst="rect">
            <a:avLst/>
          </a:prstGeom>
          <a:solidFill>
            <a:srgbClr val="2D2E34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9" name="Text 7"/>
          <p:cNvSpPr/>
          <p:nvPr/>
        </p:nvSpPr>
        <p:spPr>
          <a:xfrm>
            <a:off x="4365714" y="2814043"/>
            <a:ext cx="3460366" cy="27751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b="1" dirty="0" err="1">
                <a:solidFill>
                  <a:srgbClr val="3D3838"/>
                </a:solidFill>
                <a:latin typeface="Aptos Narrow" panose="020B0004020202020204" pitchFamily="34" charset="0"/>
                <a:ea typeface="Montserrat Bold" pitchFamily="34" charset="-122"/>
                <a:cs typeface="Montserrat Bold" pitchFamily="34" charset="-120"/>
              </a:rPr>
              <a:t>Datenbasis</a:t>
            </a:r>
            <a:r>
              <a:rPr lang="en-US" b="1" dirty="0">
                <a:solidFill>
                  <a:srgbClr val="3D3838"/>
                </a:solidFill>
                <a:latin typeface="Aptos Narrow" panose="020B0004020202020204" pitchFamily="34" charset="0"/>
                <a:ea typeface="Montserrat Bold" pitchFamily="34" charset="-122"/>
                <a:cs typeface="Montserrat Bold" pitchFamily="34" charset="-120"/>
              </a:rPr>
              <a:t> &amp; Analyseprozess</a:t>
            </a: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8011614" y="2359026"/>
            <a:ext cx="390714" cy="24417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600" dirty="0">
                <a:solidFill>
                  <a:srgbClr val="3D3838"/>
                </a:solidFill>
                <a:latin typeface="Aptos Narrow" panose="020B0004020202020204" pitchFamily="34" charset="0"/>
                <a:ea typeface="Montserrat Light" pitchFamily="34" charset="-122"/>
                <a:cs typeface="Montserrat Light" pitchFamily="34" charset="-120"/>
              </a:rPr>
              <a:t>03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8011614" y="2665612"/>
            <a:ext cx="3460267" cy="25400"/>
          </a:xfrm>
          <a:prstGeom prst="rect">
            <a:avLst/>
          </a:prstGeom>
          <a:solidFill>
            <a:srgbClr val="2D2E34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12" name="Text 10"/>
          <p:cNvSpPr/>
          <p:nvPr/>
        </p:nvSpPr>
        <p:spPr>
          <a:xfrm>
            <a:off x="8011614" y="2814043"/>
            <a:ext cx="3460267" cy="5550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lnSpcReduction="10000"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b="1" dirty="0">
                <a:solidFill>
                  <a:srgbClr val="3D3838"/>
                </a:solidFill>
                <a:latin typeface="Aptos Narrow" panose="020B0004020202020204" pitchFamily="34" charset="0"/>
                <a:ea typeface="Montserrat Bold" pitchFamily="34" charset="-122"/>
                <a:cs typeface="Montserrat Bold" pitchFamily="34" charset="-120"/>
              </a:rPr>
              <a:t>EDA, </a:t>
            </a:r>
            <a:r>
              <a:rPr lang="en-US" b="1" dirty="0" err="1">
                <a:solidFill>
                  <a:srgbClr val="3D3838"/>
                </a:solidFill>
                <a:latin typeface="Aptos Narrow" panose="020B0004020202020204" pitchFamily="34" charset="0"/>
                <a:ea typeface="Montserrat Bold" pitchFamily="34" charset="-122"/>
                <a:cs typeface="Montserrat Bold" pitchFamily="34" charset="-120"/>
              </a:rPr>
              <a:t>Datenbereinigung</a:t>
            </a:r>
            <a:r>
              <a:rPr lang="en-US" b="1" dirty="0">
                <a:solidFill>
                  <a:srgbClr val="3D3838"/>
                </a:solidFill>
                <a:latin typeface="Aptos Narrow" panose="020B0004020202020204" pitchFamily="34" charset="0"/>
                <a:ea typeface="Montserrat Bold" pitchFamily="34" charset="-122"/>
                <a:cs typeface="Montserrat Bold" pitchFamily="34" charset="-120"/>
              </a:rPr>
              <a:t> &amp; </a:t>
            </a:r>
          </a:p>
          <a:p>
            <a:pPr marL="0" indent="0" algn="l">
              <a:lnSpc>
                <a:spcPct val="104000"/>
              </a:lnSpc>
              <a:buNone/>
            </a:pPr>
            <a:r>
              <a:rPr lang="en-US" b="1" dirty="0">
                <a:solidFill>
                  <a:srgbClr val="3D3838"/>
                </a:solidFill>
                <a:latin typeface="Aptos Narrow" panose="020B0004020202020204" pitchFamily="34" charset="0"/>
                <a:ea typeface="Montserrat Bold" pitchFamily="34" charset="-122"/>
                <a:cs typeface="Montserrat Bold" pitchFamily="34" charset="-120"/>
              </a:rPr>
              <a:t>Feature Engineering</a:t>
            </a: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719913" y="3701158"/>
            <a:ext cx="390714" cy="24417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600" dirty="0">
                <a:solidFill>
                  <a:srgbClr val="3D3838"/>
                </a:solidFill>
                <a:latin typeface="Aptos Narrow" panose="020B0004020202020204" pitchFamily="34" charset="0"/>
                <a:ea typeface="Montserrat Light" pitchFamily="34" charset="-122"/>
                <a:cs typeface="Montserrat Light" pitchFamily="34" charset="-120"/>
              </a:rPr>
              <a:t>04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719913" y="4007744"/>
            <a:ext cx="3460267" cy="25400"/>
          </a:xfrm>
          <a:prstGeom prst="rect">
            <a:avLst/>
          </a:prstGeom>
          <a:solidFill>
            <a:srgbClr val="2D2E34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15" name="Text 13"/>
          <p:cNvSpPr/>
          <p:nvPr/>
        </p:nvSpPr>
        <p:spPr>
          <a:xfrm>
            <a:off x="719913" y="4156175"/>
            <a:ext cx="3460267" cy="27751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b="1" dirty="0" err="1">
                <a:solidFill>
                  <a:srgbClr val="3D3838"/>
                </a:solidFill>
                <a:latin typeface="Aptos Narrow" panose="020B0004020202020204" pitchFamily="34" charset="0"/>
                <a:ea typeface="Montserrat Bold" pitchFamily="34" charset="-122"/>
                <a:cs typeface="Montserrat Bold" pitchFamily="34" charset="-120"/>
              </a:rPr>
              <a:t>Geschäftsanalyse</a:t>
            </a: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4365714" y="3701158"/>
            <a:ext cx="390714" cy="24417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600" dirty="0">
                <a:solidFill>
                  <a:srgbClr val="3D3838"/>
                </a:solidFill>
                <a:latin typeface="Aptos Narrow" panose="020B0004020202020204" pitchFamily="34" charset="0"/>
                <a:ea typeface="Montserrat Light" pitchFamily="34" charset="-122"/>
                <a:cs typeface="Montserrat Light" pitchFamily="34" charset="-120"/>
              </a:rPr>
              <a:t>05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4365714" y="4007744"/>
            <a:ext cx="3460366" cy="25400"/>
          </a:xfrm>
          <a:prstGeom prst="rect">
            <a:avLst/>
          </a:prstGeom>
          <a:solidFill>
            <a:srgbClr val="2D2E34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18" name="Text 16"/>
          <p:cNvSpPr/>
          <p:nvPr/>
        </p:nvSpPr>
        <p:spPr>
          <a:xfrm>
            <a:off x="4365714" y="4156175"/>
            <a:ext cx="3460366" cy="27751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b="1" dirty="0" err="1">
                <a:solidFill>
                  <a:srgbClr val="3D3838"/>
                </a:solidFill>
                <a:latin typeface="Aptos Narrow" panose="020B0004020202020204" pitchFamily="34" charset="0"/>
                <a:ea typeface="Montserrat Bold" pitchFamily="34" charset="-122"/>
                <a:cs typeface="Montserrat Bold" pitchFamily="34" charset="-120"/>
              </a:rPr>
              <a:t>Kundenanalyse</a:t>
            </a: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8011614" y="3701158"/>
            <a:ext cx="390714" cy="24417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600" dirty="0">
                <a:solidFill>
                  <a:srgbClr val="3D3838"/>
                </a:solidFill>
                <a:latin typeface="Aptos Narrow" panose="020B0004020202020204" pitchFamily="34" charset="0"/>
                <a:ea typeface="Montserrat Light" pitchFamily="34" charset="-122"/>
                <a:cs typeface="Montserrat Light" pitchFamily="34" charset="-120"/>
              </a:rPr>
              <a:t>06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8011614" y="4007744"/>
            <a:ext cx="3460267" cy="25400"/>
          </a:xfrm>
          <a:prstGeom prst="rect">
            <a:avLst/>
          </a:prstGeom>
          <a:solidFill>
            <a:srgbClr val="2D2E34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21" name="Text 19"/>
          <p:cNvSpPr/>
          <p:nvPr/>
        </p:nvSpPr>
        <p:spPr>
          <a:xfrm>
            <a:off x="8011614" y="4156175"/>
            <a:ext cx="3460267" cy="5550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b="1" dirty="0" err="1">
                <a:solidFill>
                  <a:srgbClr val="3D3838"/>
                </a:solidFill>
                <a:latin typeface="Aptos Narrow" panose="020B0004020202020204" pitchFamily="34" charset="0"/>
                <a:ea typeface="Montserrat Bold" pitchFamily="34" charset="-122"/>
                <a:cs typeface="Montserrat Bold" pitchFamily="34" charset="-120"/>
              </a:rPr>
              <a:t>Verkäuferanalyse</a:t>
            </a: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719913" y="5043290"/>
            <a:ext cx="390714" cy="24417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600" dirty="0">
                <a:solidFill>
                  <a:srgbClr val="3D3838"/>
                </a:solidFill>
                <a:latin typeface="Aptos Narrow" panose="020B0004020202020204" pitchFamily="34" charset="0"/>
                <a:ea typeface="Montserrat Light" pitchFamily="34" charset="-122"/>
                <a:cs typeface="Montserrat Light" pitchFamily="34" charset="-120"/>
              </a:rPr>
              <a:t>07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719913" y="5349876"/>
            <a:ext cx="3460267" cy="25400"/>
          </a:xfrm>
          <a:prstGeom prst="rect">
            <a:avLst/>
          </a:prstGeom>
          <a:solidFill>
            <a:srgbClr val="2D2E34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24" name="Text 22"/>
          <p:cNvSpPr/>
          <p:nvPr/>
        </p:nvSpPr>
        <p:spPr>
          <a:xfrm>
            <a:off x="719913" y="5498307"/>
            <a:ext cx="3460267" cy="5550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b="1" dirty="0" err="1">
                <a:solidFill>
                  <a:srgbClr val="3D3838"/>
                </a:solidFill>
                <a:latin typeface="Aptos Narrow" panose="020B0004020202020204" pitchFamily="34" charset="0"/>
                <a:ea typeface="Montserrat Bold" pitchFamily="34" charset="-122"/>
                <a:cs typeface="Montserrat Bold" pitchFamily="34" charset="-120"/>
              </a:rPr>
              <a:t>Marketinganalyse</a:t>
            </a: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4365714" y="5043290"/>
            <a:ext cx="390714" cy="24417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600" dirty="0">
                <a:solidFill>
                  <a:srgbClr val="3D3838"/>
                </a:solidFill>
                <a:latin typeface="Aptos Narrow" panose="020B0004020202020204" pitchFamily="34" charset="0"/>
                <a:ea typeface="Montserrat Light" pitchFamily="34" charset="-122"/>
                <a:cs typeface="Montserrat Light" pitchFamily="34" charset="-120"/>
              </a:rPr>
              <a:t>08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4365714" y="5349876"/>
            <a:ext cx="3460366" cy="25400"/>
          </a:xfrm>
          <a:prstGeom prst="rect">
            <a:avLst/>
          </a:prstGeom>
          <a:solidFill>
            <a:srgbClr val="2D2E34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27" name="Text 25"/>
          <p:cNvSpPr/>
          <p:nvPr/>
        </p:nvSpPr>
        <p:spPr>
          <a:xfrm>
            <a:off x="4365714" y="5498307"/>
            <a:ext cx="3460366" cy="5550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b="1" dirty="0">
                <a:solidFill>
                  <a:srgbClr val="3D3838"/>
                </a:solidFill>
                <a:latin typeface="Aptos Narrow" panose="020B0004020202020204" pitchFamily="34" charset="0"/>
                <a:ea typeface="Montserrat Bold" pitchFamily="34" charset="-122"/>
                <a:cs typeface="Montserrat Bold" pitchFamily="34" charset="-120"/>
              </a:rPr>
              <a:t>Seller Scoring</a:t>
            </a: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8011614" y="5043290"/>
            <a:ext cx="390714" cy="24417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600" dirty="0">
                <a:solidFill>
                  <a:srgbClr val="3D3838"/>
                </a:solidFill>
                <a:latin typeface="Aptos Narrow" panose="020B0004020202020204" pitchFamily="34" charset="0"/>
                <a:ea typeface="Montserrat Light" pitchFamily="34" charset="-122"/>
                <a:cs typeface="Montserrat Light" pitchFamily="34" charset="-120"/>
              </a:rPr>
              <a:t>09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8011614" y="5349876"/>
            <a:ext cx="3460267" cy="25400"/>
          </a:xfrm>
          <a:prstGeom prst="rect">
            <a:avLst/>
          </a:prstGeom>
          <a:solidFill>
            <a:srgbClr val="2D2E34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30" name="Text 28"/>
          <p:cNvSpPr/>
          <p:nvPr/>
        </p:nvSpPr>
        <p:spPr>
          <a:xfrm>
            <a:off x="8011614" y="5498307"/>
            <a:ext cx="3460267" cy="27751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b="1" dirty="0">
                <a:solidFill>
                  <a:srgbClr val="3D3838"/>
                </a:solidFill>
                <a:latin typeface="Aptos Narrow" panose="020B0004020202020204" pitchFamily="34" charset="0"/>
                <a:ea typeface="Montserrat Bold" pitchFamily="34" charset="-122"/>
                <a:cs typeface="Montserrat Bold" pitchFamily="34" charset="-120"/>
              </a:rPr>
              <a:t>Handlungsempfehlungen</a:t>
            </a:r>
            <a:endParaRPr lang="en-US" dirty="0"/>
          </a:p>
        </p:txBody>
      </p:sp>
      <p:sp>
        <p:nvSpPr>
          <p:cNvPr id="32" name="Textfeld 31">
            <a:extLst>
              <a:ext uri="{FF2B5EF4-FFF2-40B4-BE49-F238E27FC236}">
                <a16:creationId xmlns:a16="http://schemas.microsoft.com/office/drawing/2014/main" id="{57C611E1-A536-015C-FCC6-FE45AE7B90FB}"/>
              </a:ext>
            </a:extLst>
          </p:cNvPr>
          <p:cNvSpPr txBox="1"/>
          <p:nvPr/>
        </p:nvSpPr>
        <p:spPr>
          <a:xfrm>
            <a:off x="11764652" y="6454588"/>
            <a:ext cx="49010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600" dirty="0">
                <a:latin typeface="Aptos Narrow" panose="020B0004020202020204" pitchFamily="34" charset="0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09" y="0"/>
            <a:ext cx="4571886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19814" y="426938"/>
            <a:ext cx="6180181" cy="49668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600" b="1" dirty="0">
                <a:solidFill>
                  <a:srgbClr val="000000"/>
                </a:solidFill>
                <a:latin typeface="Aptos Narrow" panose="020B0004020202020204" pitchFamily="34" charset="0"/>
                <a:ea typeface="Montserrat Bold" pitchFamily="34" charset="-122"/>
                <a:cs typeface="Montserrat Bold" pitchFamily="34" charset="-120"/>
              </a:rPr>
              <a:t>Leitfragen</a:t>
            </a:r>
            <a:endParaRPr lang="en-US" sz="3100" dirty="0"/>
          </a:p>
        </p:txBody>
      </p:sp>
      <p:pic>
        <p:nvPicPr>
          <p:cNvPr id="4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19814" y="1625204"/>
            <a:ext cx="6180181" cy="1210072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957338" y="2066331"/>
            <a:ext cx="262229" cy="32781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b="1" dirty="0">
                <a:solidFill>
                  <a:srgbClr val="3D3838"/>
                </a:solidFill>
                <a:latin typeface="Aptos Narrow" panose="020B0004020202020204" pitchFamily="34" charset="0"/>
                <a:ea typeface="Montserrat Bold" pitchFamily="34" charset="-122"/>
                <a:cs typeface="Montserrat Bold" pitchFamily="34" charset="-120"/>
              </a:rPr>
              <a:t>1</a:t>
            </a:r>
            <a:endParaRPr lang="en-US" sz="2050" dirty="0"/>
          </a:p>
        </p:txBody>
      </p:sp>
      <p:sp>
        <p:nvSpPr>
          <p:cNvPr id="6" name="Text 2"/>
          <p:cNvSpPr/>
          <p:nvPr/>
        </p:nvSpPr>
        <p:spPr>
          <a:xfrm>
            <a:off x="1586667" y="1818086"/>
            <a:ext cx="5119460" cy="2482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b="1" dirty="0">
                <a:solidFill>
                  <a:srgbClr val="3D3838"/>
                </a:solidFill>
                <a:latin typeface="Aptos Narrow" panose="020B0004020202020204" pitchFamily="34" charset="0"/>
                <a:ea typeface="Montserrat Bold" pitchFamily="34" charset="-122"/>
                <a:cs typeface="Montserrat Bold" pitchFamily="34" charset="-120"/>
              </a:rPr>
              <a:t>Geschäftserfolg</a:t>
            </a:r>
            <a:endParaRPr lang="en-US" dirty="0"/>
          </a:p>
        </p:txBody>
      </p:sp>
      <p:sp>
        <p:nvSpPr>
          <p:cNvPr id="7" name="Text 3"/>
          <p:cNvSpPr/>
          <p:nvPr/>
        </p:nvSpPr>
        <p:spPr>
          <a:xfrm>
            <a:off x="1586667" y="2155429"/>
            <a:ext cx="5119460" cy="55215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6000"/>
              </a:lnSpc>
              <a:buNone/>
            </a:pPr>
            <a:r>
              <a:rPr lang="en-US" sz="1600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Welche Faktoren bestimmen den Geschäftserfolg auf dem und </a:t>
            </a:r>
            <a:r>
              <a:rPr lang="en-US" sz="1600" dirty="0" err="1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damit</a:t>
            </a:r>
            <a:r>
              <a:rPr lang="en-US" sz="1600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 </a:t>
            </a:r>
            <a:r>
              <a:rPr lang="en-US" sz="1600" dirty="0" err="1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zugleich</a:t>
            </a:r>
            <a:r>
              <a:rPr lang="en-US" sz="1600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 für den Olist-Marktplatz?</a:t>
            </a:r>
            <a:endParaRPr lang="en-US" sz="1600" dirty="0"/>
          </a:p>
        </p:txBody>
      </p:sp>
      <p:pic>
        <p:nvPicPr>
          <p:cNvPr id="8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19814" y="2983807"/>
            <a:ext cx="6180181" cy="1048941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957338" y="3344367"/>
            <a:ext cx="262229" cy="32781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b="1" dirty="0">
                <a:solidFill>
                  <a:srgbClr val="3D3838"/>
                </a:solidFill>
                <a:latin typeface="Aptos Narrow" panose="020B0004020202020204" pitchFamily="34" charset="0"/>
                <a:ea typeface="Montserrat Bold" pitchFamily="34" charset="-122"/>
                <a:cs typeface="Montserrat Bold" pitchFamily="34" charset="-120"/>
              </a:rPr>
              <a:t>2</a:t>
            </a:r>
            <a:endParaRPr lang="en-US" sz="2050" dirty="0"/>
          </a:p>
        </p:txBody>
      </p:sp>
      <p:sp>
        <p:nvSpPr>
          <p:cNvPr id="10" name="Text 5"/>
          <p:cNvSpPr/>
          <p:nvPr/>
        </p:nvSpPr>
        <p:spPr>
          <a:xfrm>
            <a:off x="1586667" y="3177680"/>
            <a:ext cx="5119460" cy="2482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b="1" dirty="0">
                <a:solidFill>
                  <a:srgbClr val="3D3838"/>
                </a:solidFill>
                <a:latin typeface="Aptos Narrow" panose="020B0004020202020204" pitchFamily="34" charset="0"/>
                <a:ea typeface="Montserrat Bold" pitchFamily="34" charset="-122"/>
                <a:cs typeface="Montserrat Bold" pitchFamily="34" charset="-120"/>
              </a:rPr>
              <a:t>Verkäufermerkmale</a:t>
            </a:r>
            <a:endParaRPr lang="en-US" dirty="0"/>
          </a:p>
        </p:txBody>
      </p:sp>
      <p:sp>
        <p:nvSpPr>
          <p:cNvPr id="11" name="Text 6"/>
          <p:cNvSpPr/>
          <p:nvPr/>
        </p:nvSpPr>
        <p:spPr>
          <a:xfrm>
            <a:off x="1586667" y="3515024"/>
            <a:ext cx="5119460" cy="2424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6000"/>
              </a:lnSpc>
              <a:buNone/>
            </a:pPr>
            <a:r>
              <a:rPr lang="en-US" sz="1600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Welche Merkmale zeichnen </a:t>
            </a:r>
            <a:r>
              <a:rPr lang="en-US" sz="1600" dirty="0" err="1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erfolgreiche</a:t>
            </a:r>
            <a:r>
              <a:rPr lang="en-US" sz="1600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 Verkäufer aus?</a:t>
            </a:r>
            <a:endParaRPr lang="en-US" sz="1600" dirty="0"/>
          </a:p>
        </p:txBody>
      </p:sp>
      <p:pic>
        <p:nvPicPr>
          <p:cNvPr id="12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19814" y="4181278"/>
            <a:ext cx="6180181" cy="1210072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957338" y="4622404"/>
            <a:ext cx="262229" cy="32781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b="1" dirty="0">
                <a:solidFill>
                  <a:srgbClr val="3D3838"/>
                </a:solidFill>
                <a:latin typeface="Aptos Narrow" panose="020B0004020202020204" pitchFamily="34" charset="0"/>
                <a:ea typeface="Montserrat Bold" pitchFamily="34" charset="-122"/>
                <a:cs typeface="Montserrat Bold" pitchFamily="34" charset="-120"/>
              </a:rPr>
              <a:t>3</a:t>
            </a:r>
            <a:endParaRPr lang="en-US" sz="2050" dirty="0"/>
          </a:p>
        </p:txBody>
      </p:sp>
      <p:sp>
        <p:nvSpPr>
          <p:cNvPr id="14" name="Text 8"/>
          <p:cNvSpPr/>
          <p:nvPr/>
        </p:nvSpPr>
        <p:spPr>
          <a:xfrm>
            <a:off x="1586667" y="4374142"/>
            <a:ext cx="5119460" cy="1983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b="1" dirty="0">
                <a:solidFill>
                  <a:srgbClr val="3D3838"/>
                </a:solidFill>
                <a:latin typeface="Aptos Narrow" panose="020B0004020202020204" pitchFamily="34" charset="0"/>
                <a:ea typeface="Montserrat Bold" pitchFamily="34" charset="-122"/>
                <a:cs typeface="Montserrat Bold" pitchFamily="34" charset="-120"/>
              </a:rPr>
              <a:t>Marketingattribute</a:t>
            </a:r>
            <a:endParaRPr lang="en-US" dirty="0"/>
          </a:p>
        </p:txBody>
      </p:sp>
      <p:sp>
        <p:nvSpPr>
          <p:cNvPr id="15" name="Text 9"/>
          <p:cNvSpPr/>
          <p:nvPr/>
        </p:nvSpPr>
        <p:spPr>
          <a:xfrm>
            <a:off x="1586667" y="4711485"/>
            <a:ext cx="5119460" cy="5424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lnSpcReduction="10000"/>
          </a:bodyPr>
          <a:lstStyle/>
          <a:p>
            <a:pPr marL="0" indent="0" algn="l">
              <a:lnSpc>
                <a:spcPct val="116000"/>
              </a:lnSpc>
              <a:buNone/>
            </a:pPr>
            <a:r>
              <a:rPr lang="en-US" sz="1600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Welche Lead- und Marketingattribute führen zu den erfolgreichsten </a:t>
            </a:r>
            <a:r>
              <a:rPr lang="en-US" sz="1600" dirty="0" err="1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Verkäufern</a:t>
            </a:r>
            <a:r>
              <a:rPr lang="en-US" sz="1600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 – wie lassen sie </a:t>
            </a:r>
            <a:r>
              <a:rPr lang="en-US" sz="1600" dirty="0" err="1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sich</a:t>
            </a:r>
            <a:r>
              <a:rPr lang="en-US" sz="1600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 </a:t>
            </a:r>
            <a:r>
              <a:rPr lang="en-US" sz="1600" dirty="0" err="1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identifizieren</a:t>
            </a:r>
            <a:r>
              <a:rPr lang="en-US" sz="1600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?</a:t>
            </a:r>
            <a:endParaRPr lang="en-US" sz="1600" dirty="0"/>
          </a:p>
        </p:txBody>
      </p:sp>
      <p:sp>
        <p:nvSpPr>
          <p:cNvPr id="18" name="Text 11"/>
          <p:cNvSpPr/>
          <p:nvPr/>
        </p:nvSpPr>
        <p:spPr>
          <a:xfrm>
            <a:off x="1287926" y="5520333"/>
            <a:ext cx="5437250" cy="4849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6000"/>
              </a:lnSpc>
              <a:buNone/>
            </a:pPr>
            <a:endParaRPr lang="en-US" sz="1600" dirty="0"/>
          </a:p>
        </p:txBody>
      </p:sp>
      <p:sp>
        <p:nvSpPr>
          <p:cNvPr id="20" name="Textfeld 19">
            <a:extLst>
              <a:ext uri="{FF2B5EF4-FFF2-40B4-BE49-F238E27FC236}">
                <a16:creationId xmlns:a16="http://schemas.microsoft.com/office/drawing/2014/main" id="{B6A2022E-99F2-6166-8467-C1D9B2DA45AE}"/>
              </a:ext>
            </a:extLst>
          </p:cNvPr>
          <p:cNvSpPr txBox="1"/>
          <p:nvPr/>
        </p:nvSpPr>
        <p:spPr>
          <a:xfrm>
            <a:off x="11764652" y="6454588"/>
            <a:ext cx="49010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600" dirty="0">
                <a:latin typeface="Aptos Narrow" panose="020B0004020202020204" pitchFamily="34" charset="0"/>
              </a:rPr>
              <a:t>2</a:t>
            </a:r>
            <a:endParaRPr lang="de-DE" dirty="0">
              <a:latin typeface="Aptos Narrow" panose="020B0004020202020204" pitchFamily="34" charset="0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09" y="0"/>
            <a:ext cx="4571886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19814" y="349426"/>
            <a:ext cx="6180181" cy="116879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600" b="1" dirty="0" err="1">
                <a:solidFill>
                  <a:srgbClr val="000000"/>
                </a:solidFill>
                <a:latin typeface="Aptos Narrow" panose="020B0004020202020204" pitchFamily="34" charset="0"/>
                <a:ea typeface="Montserrat Bold" pitchFamily="34" charset="-122"/>
                <a:cs typeface="Montserrat Bold" pitchFamily="34" charset="-120"/>
              </a:rPr>
              <a:t>Datenbasis</a:t>
            </a:r>
            <a:r>
              <a:rPr lang="en-US" sz="3650" b="1" dirty="0">
                <a:solidFill>
                  <a:srgbClr val="000000"/>
                </a:solidFill>
                <a:latin typeface="Aptos Narrow" panose="020B0004020202020204" pitchFamily="34" charset="0"/>
                <a:ea typeface="Montserrat Bold" pitchFamily="34" charset="-122"/>
                <a:cs typeface="Montserrat Bold" pitchFamily="34" charset="-120"/>
              </a:rPr>
              <a:t> &amp; Analyseprozess</a:t>
            </a:r>
            <a:endParaRPr lang="en-US" sz="3650" dirty="0"/>
          </a:p>
        </p:txBody>
      </p:sp>
      <p:sp>
        <p:nvSpPr>
          <p:cNvPr id="4" name="Text 1"/>
          <p:cNvSpPr/>
          <p:nvPr/>
        </p:nvSpPr>
        <p:spPr>
          <a:xfrm>
            <a:off x="719814" y="2225179"/>
            <a:ext cx="6789766" cy="30847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5000"/>
              </a:lnSpc>
              <a:buNone/>
            </a:pPr>
            <a:endParaRPr lang="en-US" sz="1600" dirty="0"/>
          </a:p>
        </p:txBody>
      </p:sp>
      <p:sp>
        <p:nvSpPr>
          <p:cNvPr id="5" name="Text 2"/>
          <p:cNvSpPr/>
          <p:nvPr/>
        </p:nvSpPr>
        <p:spPr>
          <a:xfrm>
            <a:off x="719814" y="1372123"/>
            <a:ext cx="6180181" cy="2921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00" b="1" dirty="0">
                <a:solidFill>
                  <a:srgbClr val="000000"/>
                </a:solidFill>
                <a:latin typeface="Aptos Narrow" panose="020B0004020202020204" pitchFamily="34" charset="0"/>
                <a:ea typeface="Montserrat Bold" pitchFamily="34" charset="-122"/>
                <a:cs typeface="Montserrat Bold" pitchFamily="34" charset="-120"/>
              </a:rPr>
              <a:t>Datenbasis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719813" y="1738186"/>
            <a:ext cx="6180181" cy="211281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25120" indent="-325120" algn="l">
              <a:lnSpc>
                <a:spcPct val="125000"/>
              </a:lnSpc>
              <a:buSzPct val="100000"/>
              <a:buChar char="•"/>
            </a:pPr>
            <a:r>
              <a:rPr lang="en-US" dirty="0" err="1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Zentrale</a:t>
            </a:r>
            <a:r>
              <a:rPr lang="en-US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 </a:t>
            </a:r>
            <a:r>
              <a:rPr lang="en-US" dirty="0" err="1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Quelldatei</a:t>
            </a:r>
            <a:r>
              <a:rPr lang="en-US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 </a:t>
            </a:r>
            <a:r>
              <a:rPr lang="en-US" b="1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olist_data.xlsx</a:t>
            </a:r>
          </a:p>
          <a:p>
            <a:pPr marL="325120" indent="-325120" algn="l">
              <a:lnSpc>
                <a:spcPct val="125000"/>
              </a:lnSpc>
              <a:buSzPct val="100000"/>
              <a:buChar char="•"/>
            </a:pPr>
            <a:r>
              <a:rPr lang="en-US" dirty="0" err="1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Primäre</a:t>
            </a:r>
            <a:r>
              <a:rPr lang="en-US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/interne </a:t>
            </a:r>
            <a:r>
              <a:rPr lang="en-US" dirty="0" err="1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Daten</a:t>
            </a:r>
            <a:r>
              <a:rPr lang="en-US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 (</a:t>
            </a:r>
            <a:r>
              <a:rPr lang="en-US" dirty="0" err="1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anonymisiert</a:t>
            </a:r>
            <a:r>
              <a:rPr lang="en-US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)</a:t>
            </a:r>
          </a:p>
          <a:p>
            <a:pPr marL="325120" indent="-325120" algn="l">
              <a:lnSpc>
                <a:spcPct val="125000"/>
              </a:lnSpc>
              <a:buSzPct val="100000"/>
              <a:buChar char="•"/>
            </a:pPr>
            <a:r>
              <a:rPr lang="en-US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Vier </a:t>
            </a:r>
            <a:r>
              <a:rPr lang="en-US" dirty="0" err="1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Tabellen</a:t>
            </a:r>
            <a:r>
              <a:rPr lang="en-US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: </a:t>
            </a:r>
            <a:r>
              <a:rPr lang="en-US" b="1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customers</a:t>
            </a:r>
            <a:r>
              <a:rPr lang="en-US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, </a:t>
            </a:r>
            <a:r>
              <a:rPr lang="en-US" b="1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orders</a:t>
            </a:r>
            <a:r>
              <a:rPr lang="en-US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, </a:t>
            </a:r>
            <a:r>
              <a:rPr lang="en-US" b="1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products</a:t>
            </a:r>
            <a:r>
              <a:rPr lang="en-US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, </a:t>
            </a:r>
            <a:r>
              <a:rPr lang="en-US" b="1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sellers</a:t>
            </a:r>
            <a:endParaRPr lang="en-US" b="1" dirty="0">
              <a:latin typeface="Aptos Narrow" panose="020B0004020202020204" pitchFamily="34" charset="0"/>
            </a:endParaRPr>
          </a:p>
          <a:p>
            <a:pPr marL="325120" indent="-325120" algn="l">
              <a:lnSpc>
                <a:spcPct val="125000"/>
              </a:lnSpc>
              <a:buSzPct val="100000"/>
              <a:buChar char="•"/>
            </a:pPr>
            <a:r>
              <a:rPr lang="en-US" dirty="0" err="1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Datenzeitraum</a:t>
            </a:r>
            <a:r>
              <a:rPr lang="en-US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: September 2016 – Oktober 2018</a:t>
            </a:r>
          </a:p>
          <a:p>
            <a:pPr marL="325120" indent="-325120" algn="l">
              <a:lnSpc>
                <a:spcPct val="125000"/>
              </a:lnSpc>
              <a:buSzPct val="100000"/>
              <a:buChar char="•"/>
            </a:pPr>
            <a:r>
              <a:rPr lang="en-US" dirty="0" err="1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Beispiel</a:t>
            </a:r>
            <a:r>
              <a:rPr lang="en-US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 </a:t>
            </a:r>
            <a:r>
              <a:rPr lang="en-US" b="1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orders</a:t>
            </a:r>
            <a:r>
              <a:rPr lang="en-US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: 30 Attribute, 112.096 </a:t>
            </a:r>
            <a:r>
              <a:rPr lang="en-US" dirty="0" err="1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Datensätze</a:t>
            </a:r>
            <a:endParaRPr lang="en-US" dirty="0">
              <a:solidFill>
                <a:srgbClr val="3D3838"/>
              </a:solidFill>
              <a:latin typeface="Aptos Narrow" panose="020B0004020202020204" pitchFamily="34" charset="0"/>
              <a:ea typeface="Source Sans 3" pitchFamily="34" charset="-122"/>
              <a:cs typeface="Source Sans 3" pitchFamily="34" charset="-120"/>
            </a:endParaRPr>
          </a:p>
        </p:txBody>
      </p:sp>
      <p:sp>
        <p:nvSpPr>
          <p:cNvPr id="7" name="Text 4"/>
          <p:cNvSpPr/>
          <p:nvPr/>
        </p:nvSpPr>
        <p:spPr>
          <a:xfrm>
            <a:off x="719814" y="3924862"/>
            <a:ext cx="6180181" cy="2921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00" b="1" dirty="0">
                <a:solidFill>
                  <a:srgbClr val="000000"/>
                </a:solidFill>
                <a:latin typeface="Aptos Narrow" panose="020B0004020202020204" pitchFamily="34" charset="0"/>
                <a:ea typeface="Montserrat Bold" pitchFamily="34" charset="-122"/>
                <a:cs typeface="Montserrat Bold" pitchFamily="34" charset="-120"/>
              </a:rPr>
              <a:t>Iterativer Analyseprozess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719814" y="4290925"/>
            <a:ext cx="6335410" cy="211281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25120" indent="-325120" algn="l">
              <a:lnSpc>
                <a:spcPct val="125000"/>
              </a:lnSpc>
              <a:buSzPct val="100000"/>
              <a:buChar char="•"/>
            </a:pPr>
            <a:r>
              <a:rPr lang="en-US" b="1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Exploration</a:t>
            </a:r>
            <a:r>
              <a:rPr lang="en-US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 – </a:t>
            </a:r>
            <a:r>
              <a:rPr lang="en-US" b="1" dirty="0" err="1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Bereinigung</a:t>
            </a:r>
            <a:r>
              <a:rPr lang="en-US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 – </a:t>
            </a:r>
            <a:r>
              <a:rPr lang="en-US" b="1" dirty="0" err="1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Analyse</a:t>
            </a:r>
            <a:endParaRPr lang="en-US" b="1" dirty="0">
              <a:latin typeface="Aptos Narrow" panose="020B0004020202020204" pitchFamily="34" charset="0"/>
            </a:endParaRPr>
          </a:p>
          <a:p>
            <a:pPr marL="325120" indent="-325120" algn="l">
              <a:lnSpc>
                <a:spcPct val="125000"/>
              </a:lnSpc>
              <a:buSzPct val="100000"/>
              <a:buChar char="•"/>
            </a:pPr>
            <a:r>
              <a:rPr lang="de-DE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Exploration lieferte die Grundlage für Bereinigungsentscheidungen</a:t>
            </a:r>
          </a:p>
          <a:p>
            <a:pPr marL="325120" indent="-325120" algn="l">
              <a:lnSpc>
                <a:spcPct val="125000"/>
              </a:lnSpc>
              <a:buSzPct val="100000"/>
              <a:buChar char="•"/>
            </a:pPr>
            <a:r>
              <a:rPr lang="de-DE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Analyseergebnisse machten vereinzelt weitere Bereinigungen erforderlich</a:t>
            </a:r>
            <a:endParaRPr lang="en-US" dirty="0">
              <a:solidFill>
                <a:srgbClr val="3D3838"/>
              </a:solidFill>
              <a:latin typeface="Aptos Narrow" panose="020B0004020202020204" pitchFamily="34" charset="0"/>
              <a:ea typeface="Source Sans 3" pitchFamily="34" charset="-122"/>
              <a:cs typeface="Source Sans 3" pitchFamily="34" charset="-120"/>
            </a:endParaRPr>
          </a:p>
          <a:p>
            <a:pPr marL="325120" indent="-325120" algn="l">
              <a:lnSpc>
                <a:spcPct val="125000"/>
              </a:lnSpc>
              <a:buSzPct val="100000"/>
              <a:buChar char="•"/>
            </a:pPr>
            <a:r>
              <a:rPr lang="en-US" b="1" dirty="0">
                <a:solidFill>
                  <a:srgbClr val="3D3838"/>
                </a:solidFill>
                <a:latin typeface="Aptos Narrow" panose="020B0004020202020204" pitchFamily="34" charset="0"/>
              </a:rPr>
              <a:t>Ziel: </a:t>
            </a:r>
            <a:r>
              <a:rPr lang="de-DE" dirty="0">
                <a:solidFill>
                  <a:srgbClr val="3D3838"/>
                </a:solidFill>
                <a:latin typeface="Aptos Narrow" panose="020B0004020202020204" pitchFamily="34" charset="0"/>
              </a:rPr>
              <a:t>Schrittweise Verbesserung der Aussagekraft der Daten bzw. der Analyse</a:t>
            </a:r>
          </a:p>
          <a:p>
            <a:pPr marL="325120" indent="-325120" algn="l">
              <a:lnSpc>
                <a:spcPct val="125000"/>
              </a:lnSpc>
              <a:buSzPct val="100000"/>
              <a:buChar char="•"/>
            </a:pPr>
            <a:endParaRPr lang="en-US" dirty="0">
              <a:latin typeface="Aptos Narrow" panose="020B0004020202020204" pitchFamily="34" charset="0"/>
            </a:endParaRPr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BD4C3B1F-7257-5B89-3B32-0A535C0757EB}"/>
              </a:ext>
            </a:extLst>
          </p:cNvPr>
          <p:cNvSpPr txBox="1"/>
          <p:nvPr/>
        </p:nvSpPr>
        <p:spPr>
          <a:xfrm>
            <a:off x="11773617" y="6454588"/>
            <a:ext cx="49010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600" dirty="0">
                <a:latin typeface="Aptos Narrow" panose="020B0004020202020204" pitchFamily="34" charset="0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" y="0"/>
            <a:ext cx="3095623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429000" y="337940"/>
            <a:ext cx="8562975" cy="81795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600" b="1" dirty="0">
                <a:solidFill>
                  <a:srgbClr val="000000"/>
                </a:solidFill>
                <a:latin typeface="Aptos Narrow" panose="020B0004020202020204" pitchFamily="34" charset="0"/>
                <a:ea typeface="Montserrat Bold" pitchFamily="34" charset="-122"/>
                <a:cs typeface="Montserrat Bold" pitchFamily="34" charset="-120"/>
              </a:rPr>
              <a:t>EDA, </a:t>
            </a:r>
            <a:r>
              <a:rPr lang="en-US" sz="3600" b="1" dirty="0" err="1">
                <a:solidFill>
                  <a:srgbClr val="000000"/>
                </a:solidFill>
                <a:latin typeface="Aptos Narrow" panose="020B0004020202020204" pitchFamily="34" charset="0"/>
                <a:ea typeface="Montserrat Bold" pitchFamily="34" charset="-122"/>
                <a:cs typeface="Montserrat Bold" pitchFamily="34" charset="-120"/>
              </a:rPr>
              <a:t>Datenbereinigung</a:t>
            </a:r>
            <a:r>
              <a:rPr lang="en-US" sz="3600" b="1" dirty="0">
                <a:solidFill>
                  <a:srgbClr val="000000"/>
                </a:solidFill>
                <a:latin typeface="Aptos Narrow" panose="020B0004020202020204" pitchFamily="34" charset="0"/>
                <a:ea typeface="Montserrat Bold" pitchFamily="34" charset="-122"/>
                <a:cs typeface="Montserrat Bold" pitchFamily="34" charset="-120"/>
              </a:rPr>
              <a:t> &amp; Feature Engineering</a:t>
            </a:r>
            <a:endParaRPr lang="en-US" sz="3600" dirty="0"/>
          </a:p>
        </p:txBody>
      </p:sp>
      <p:sp>
        <p:nvSpPr>
          <p:cNvPr id="4" name="Text 1"/>
          <p:cNvSpPr/>
          <p:nvPr/>
        </p:nvSpPr>
        <p:spPr>
          <a:xfrm>
            <a:off x="3431149" y="1336775"/>
            <a:ext cx="4360301" cy="1977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00" b="1" dirty="0">
                <a:solidFill>
                  <a:srgbClr val="000000"/>
                </a:solidFill>
                <a:latin typeface="Aptos Narrow" panose="020B0004020202020204" pitchFamily="34" charset="0"/>
                <a:ea typeface="Montserrat Bold" pitchFamily="34" charset="-122"/>
                <a:cs typeface="Montserrat Bold" pitchFamily="34" charset="-120"/>
              </a:rPr>
              <a:t>Exploration: </a:t>
            </a:r>
            <a:r>
              <a:rPr lang="en-US" sz="1600" b="1" dirty="0" err="1">
                <a:solidFill>
                  <a:srgbClr val="000000"/>
                </a:solidFill>
                <a:latin typeface="Aptos Narrow" panose="020B0004020202020204" pitchFamily="34" charset="0"/>
                <a:ea typeface="Montserrat Bold" pitchFamily="34" charset="-122"/>
                <a:cs typeface="Montserrat Bold" pitchFamily="34" charset="-120"/>
              </a:rPr>
              <a:t>Identifizierte</a:t>
            </a:r>
            <a:r>
              <a:rPr lang="en-US" sz="1600" b="1" dirty="0">
                <a:solidFill>
                  <a:srgbClr val="000000"/>
                </a:solidFill>
                <a:latin typeface="Aptos Narrow" panose="020B0004020202020204" pitchFamily="34" charset="0"/>
                <a:ea typeface="Montserrat Bold" pitchFamily="34" charset="-122"/>
                <a:cs typeface="Montserrat Bold" pitchFamily="34" charset="-120"/>
              </a:rPr>
              <a:t> </a:t>
            </a:r>
            <a:r>
              <a:rPr lang="en-US" sz="1600" b="1" dirty="0" err="1">
                <a:solidFill>
                  <a:srgbClr val="000000"/>
                </a:solidFill>
                <a:latin typeface="Aptos Narrow" panose="020B0004020202020204" pitchFamily="34" charset="0"/>
                <a:ea typeface="Montserrat Bold" pitchFamily="34" charset="-122"/>
                <a:cs typeface="Montserrat Bold" pitchFamily="34" charset="-120"/>
              </a:rPr>
              <a:t>Datenqualitätsprobleme</a:t>
            </a:r>
            <a:endParaRPr lang="en-US" sz="1600" dirty="0"/>
          </a:p>
        </p:txBody>
      </p:sp>
      <p:sp>
        <p:nvSpPr>
          <p:cNvPr id="5" name="Text 2"/>
          <p:cNvSpPr/>
          <p:nvPr/>
        </p:nvSpPr>
        <p:spPr>
          <a:xfrm>
            <a:off x="3431150" y="1693325"/>
            <a:ext cx="5880938" cy="12069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223520" indent="-223520" algn="l">
              <a:lnSpc>
                <a:spcPct val="106000"/>
              </a:lnSpc>
              <a:buSzPct val="100000"/>
              <a:buChar char="•"/>
            </a:pPr>
            <a:r>
              <a:rPr lang="en-US" sz="1600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Hoher </a:t>
            </a:r>
            <a:r>
              <a:rPr lang="en-US" sz="1600" dirty="0" err="1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Anteil</a:t>
            </a:r>
            <a:r>
              <a:rPr lang="en-US" sz="1600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 </a:t>
            </a:r>
            <a:r>
              <a:rPr lang="en-US" sz="1600" dirty="0" err="1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fehlender</a:t>
            </a:r>
            <a:r>
              <a:rPr lang="en-US" sz="1600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 </a:t>
            </a:r>
            <a:r>
              <a:rPr lang="en-US" sz="1600" dirty="0" err="1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Marketinginformationen</a:t>
            </a:r>
            <a:endParaRPr lang="en-US" sz="1600" dirty="0">
              <a:solidFill>
                <a:srgbClr val="3D3838"/>
              </a:solidFill>
              <a:latin typeface="Aptos Narrow" panose="020B0004020202020204" pitchFamily="34" charset="0"/>
              <a:ea typeface="Source Sans 3" pitchFamily="34" charset="-122"/>
              <a:cs typeface="Source Sans 3" pitchFamily="34" charset="-120"/>
            </a:endParaRPr>
          </a:p>
          <a:p>
            <a:pPr marL="223520" indent="-223520" algn="l">
              <a:lnSpc>
                <a:spcPct val="106000"/>
              </a:lnSpc>
              <a:buSzPct val="100000"/>
              <a:buChar char="•"/>
            </a:pPr>
            <a:r>
              <a:rPr lang="en-US" sz="1600" dirty="0" err="1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Fehlerhafte</a:t>
            </a:r>
            <a:r>
              <a:rPr lang="en-US" sz="1600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 </a:t>
            </a:r>
            <a:r>
              <a:rPr lang="en-US" sz="1600" dirty="0" err="1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Datensätze</a:t>
            </a:r>
            <a:r>
              <a:rPr lang="en-US" sz="1600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 &amp; </a:t>
            </a:r>
            <a:r>
              <a:rPr lang="en-US" sz="1600" dirty="0" err="1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Inkonsistenzen</a:t>
            </a:r>
            <a:endParaRPr lang="en-US" sz="1600" dirty="0">
              <a:solidFill>
                <a:srgbClr val="3D3838"/>
              </a:solidFill>
              <a:latin typeface="Aptos Narrow" panose="020B0004020202020204" pitchFamily="34" charset="0"/>
              <a:ea typeface="Source Sans 3" pitchFamily="34" charset="-122"/>
              <a:cs typeface="Source Sans 3" pitchFamily="34" charset="-120"/>
            </a:endParaRPr>
          </a:p>
          <a:p>
            <a:pPr marL="223520" indent="-223520" algn="l">
              <a:lnSpc>
                <a:spcPct val="106000"/>
              </a:lnSpc>
              <a:buSzPct val="100000"/>
              <a:buChar char="•"/>
            </a:pPr>
            <a:r>
              <a:rPr lang="en-US" sz="1600" dirty="0" err="1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Fehlende</a:t>
            </a:r>
            <a:r>
              <a:rPr lang="en-US" sz="1600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 Produkt-, Liefer- &amp; </a:t>
            </a:r>
            <a:r>
              <a:rPr lang="en-US" sz="1600" dirty="0" err="1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Bewertungsdaten</a:t>
            </a:r>
            <a:endParaRPr lang="en-US" sz="1600" dirty="0">
              <a:latin typeface="Aptos Narrow" panose="020B0004020202020204" pitchFamily="34" charset="0"/>
            </a:endParaRPr>
          </a:p>
          <a:p>
            <a:pPr marL="223520" indent="-223520" algn="l">
              <a:lnSpc>
                <a:spcPct val="106000"/>
              </a:lnSpc>
              <a:buSzPct val="100000"/>
              <a:buChar char="•"/>
            </a:pPr>
            <a:r>
              <a:rPr lang="en-US" sz="1600" dirty="0" err="1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Mehrfachkategorien</a:t>
            </a:r>
            <a:r>
              <a:rPr lang="en-US" sz="1600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 bei Behaviour Profiles</a:t>
            </a:r>
            <a:endParaRPr lang="en-US" sz="1600" dirty="0">
              <a:latin typeface="Aptos Narrow" panose="020B0004020202020204" pitchFamily="34" charset="0"/>
            </a:endParaRPr>
          </a:p>
        </p:txBody>
      </p:sp>
      <p:sp>
        <p:nvSpPr>
          <p:cNvPr id="6" name="Text 3"/>
          <p:cNvSpPr/>
          <p:nvPr/>
        </p:nvSpPr>
        <p:spPr>
          <a:xfrm>
            <a:off x="3429000" y="3124249"/>
            <a:ext cx="2914478" cy="2044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00" b="1" dirty="0">
                <a:solidFill>
                  <a:srgbClr val="000000"/>
                </a:solidFill>
                <a:latin typeface="Aptos Narrow" panose="020B0004020202020204" pitchFamily="34" charset="0"/>
                <a:ea typeface="Montserrat Bold" pitchFamily="34" charset="-122"/>
                <a:cs typeface="Montserrat Bold" pitchFamily="34" charset="-120"/>
              </a:rPr>
              <a:t>Datenbereinigung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3431150" y="3490565"/>
            <a:ext cx="3293500" cy="2104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223520" indent="-223520" algn="l">
              <a:lnSpc>
                <a:spcPct val="106000"/>
              </a:lnSpc>
              <a:buSzPct val="100000"/>
              <a:buChar char="•"/>
            </a:pPr>
            <a:r>
              <a:rPr lang="en-US" sz="1600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Duplikatprüfung &amp; Entfernung irrelevanter Spalten</a:t>
            </a:r>
            <a:endParaRPr lang="en-US" sz="1600" dirty="0">
              <a:latin typeface="Aptos Narrow" panose="020B0004020202020204" pitchFamily="34" charset="0"/>
            </a:endParaRPr>
          </a:p>
          <a:p>
            <a:pPr marL="223520" indent="-223520" algn="l">
              <a:lnSpc>
                <a:spcPct val="106000"/>
              </a:lnSpc>
              <a:buSzPct val="100000"/>
              <a:buChar char="•"/>
            </a:pPr>
            <a:r>
              <a:rPr lang="en-US" sz="1600" dirty="0" err="1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Behandlung</a:t>
            </a:r>
            <a:r>
              <a:rPr lang="en-US" sz="1600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 von NULL-</a:t>
            </a:r>
            <a:r>
              <a:rPr lang="en-US" sz="1600" dirty="0" err="1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Werten</a:t>
            </a:r>
            <a:endParaRPr lang="en-US" sz="1600" dirty="0">
              <a:latin typeface="Aptos Narrow" panose="020B0004020202020204" pitchFamily="34" charset="0"/>
            </a:endParaRPr>
          </a:p>
          <a:p>
            <a:pPr marL="223520" indent="-223520" algn="l">
              <a:lnSpc>
                <a:spcPct val="106000"/>
              </a:lnSpc>
              <a:buSzPct val="100000"/>
              <a:buChar char="•"/>
            </a:pPr>
            <a:r>
              <a:rPr lang="en-US" sz="1600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Fehlende Marketingattribute → „no contact" / „unspecified"</a:t>
            </a:r>
            <a:endParaRPr lang="en-US" sz="1600" dirty="0">
              <a:latin typeface="Aptos Narrow" panose="020B0004020202020204" pitchFamily="34" charset="0"/>
            </a:endParaRPr>
          </a:p>
          <a:p>
            <a:pPr marL="223520" indent="-223520" algn="l">
              <a:lnSpc>
                <a:spcPct val="106000"/>
              </a:lnSpc>
              <a:buSzPct val="100000"/>
              <a:buChar char="•"/>
            </a:pPr>
            <a:r>
              <a:rPr lang="en-US" sz="1600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Fehlerhafte Datensätze korrigiert &amp; dokumentiert</a:t>
            </a:r>
            <a:endParaRPr lang="en-US" sz="1600" dirty="0">
              <a:latin typeface="Aptos Narrow" panose="020B0004020202020204" pitchFamily="34" charset="0"/>
            </a:endParaRPr>
          </a:p>
        </p:txBody>
      </p:sp>
      <p:sp>
        <p:nvSpPr>
          <p:cNvPr id="8" name="Text 5"/>
          <p:cNvSpPr/>
          <p:nvPr/>
        </p:nvSpPr>
        <p:spPr>
          <a:xfrm>
            <a:off x="7643641" y="3124249"/>
            <a:ext cx="2914478" cy="2044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00" b="1" dirty="0">
                <a:solidFill>
                  <a:srgbClr val="000000"/>
                </a:solidFill>
                <a:latin typeface="Aptos Narrow" panose="020B0004020202020204" pitchFamily="34" charset="0"/>
                <a:ea typeface="Montserrat Bold" pitchFamily="34" charset="-122"/>
                <a:cs typeface="Montserrat Bold" pitchFamily="34" charset="-120"/>
              </a:rPr>
              <a:t>Feature Engineering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7643640" y="3490565"/>
            <a:ext cx="3386309" cy="15366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223520" indent="-223520" algn="l">
              <a:buSzPct val="100000"/>
              <a:buChar char="•"/>
            </a:pPr>
            <a:r>
              <a:rPr lang="en-US" sz="1600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Star-Schema-</a:t>
            </a:r>
            <a:r>
              <a:rPr lang="en-US" sz="1600" dirty="0" err="1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Datenmodell</a:t>
            </a:r>
            <a:r>
              <a:rPr lang="en-US" sz="1600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 </a:t>
            </a:r>
            <a:r>
              <a:rPr lang="en-US" sz="1600" dirty="0" err="1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aufgebaut</a:t>
            </a:r>
            <a:endParaRPr lang="en-US" sz="1600" dirty="0">
              <a:solidFill>
                <a:srgbClr val="3D3838"/>
              </a:solidFill>
              <a:latin typeface="Aptos Narrow" panose="020B0004020202020204" pitchFamily="34" charset="0"/>
              <a:ea typeface="Source Sans 3" pitchFamily="34" charset="-122"/>
              <a:cs typeface="Source Sans 3" pitchFamily="34" charset="-120"/>
            </a:endParaRPr>
          </a:p>
          <a:p>
            <a:pPr marL="223520" indent="-223520" algn="l">
              <a:buSzPct val="100000"/>
              <a:buChar char="•"/>
            </a:pPr>
            <a:r>
              <a:rPr lang="en-US" sz="1600" dirty="0" err="1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Zentrale</a:t>
            </a:r>
            <a:r>
              <a:rPr lang="en-US" sz="1600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 Datumstabelle erstellt</a:t>
            </a:r>
            <a:endParaRPr lang="en-US" sz="1600" dirty="0">
              <a:latin typeface="Aptos Narrow" panose="020B0004020202020204" pitchFamily="34" charset="0"/>
            </a:endParaRPr>
          </a:p>
          <a:p>
            <a:pPr marL="223520" indent="-223520" algn="l">
              <a:buSzPct val="100000"/>
              <a:buChar char="•"/>
            </a:pPr>
            <a:r>
              <a:rPr lang="en-US" sz="1600" dirty="0" err="1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Erforderliche</a:t>
            </a:r>
            <a:r>
              <a:rPr lang="en-US" sz="1600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 </a:t>
            </a:r>
            <a:r>
              <a:rPr lang="en-US" sz="1600" dirty="0" err="1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Analyse</a:t>
            </a:r>
            <a:r>
              <a:rPr lang="en-US" sz="1600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-Measures und </a:t>
            </a:r>
            <a:r>
              <a:rPr lang="en-US" sz="1600" dirty="0" err="1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berechnete</a:t>
            </a:r>
            <a:r>
              <a:rPr lang="en-US" sz="1600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 </a:t>
            </a:r>
            <a:r>
              <a:rPr lang="en-US" sz="1600" dirty="0" err="1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Spalten</a:t>
            </a:r>
            <a:r>
              <a:rPr lang="en-US" sz="1600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 </a:t>
            </a:r>
            <a:r>
              <a:rPr lang="en-US" sz="1600" dirty="0" err="1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entwickelt</a:t>
            </a:r>
            <a:endParaRPr lang="en-US" sz="1600" dirty="0">
              <a:latin typeface="Aptos Narrow" panose="020B0004020202020204" pitchFamily="34" charset="0"/>
            </a:endParaRPr>
          </a:p>
          <a:p>
            <a:pPr marL="223520" indent="-223520">
              <a:buSzPct val="100000"/>
              <a:buChar char="•"/>
            </a:pPr>
            <a:r>
              <a:rPr lang="en-US" sz="1600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Beispiele: Delivery Days, On Time Rate, Days to Close, Seller Score</a:t>
            </a:r>
            <a:endParaRPr lang="en-US" sz="1600" dirty="0">
              <a:latin typeface="Aptos Narrow" panose="020B0004020202020204" pitchFamily="34" charset="0"/>
            </a:endParaRPr>
          </a:p>
        </p:txBody>
      </p:sp>
      <p:sp>
        <p:nvSpPr>
          <p:cNvPr id="10" name="Shape 7"/>
          <p:cNvSpPr/>
          <p:nvPr/>
        </p:nvSpPr>
        <p:spPr>
          <a:xfrm>
            <a:off x="4340047" y="5521225"/>
            <a:ext cx="6180181" cy="898035"/>
          </a:xfrm>
          <a:prstGeom prst="roundRect">
            <a:avLst>
              <a:gd name="adj" fmla="val 3426"/>
            </a:avLst>
          </a:prstGeom>
          <a:solidFill>
            <a:schemeClr val="accent5">
              <a:lumMod val="20000"/>
              <a:lumOff val="80000"/>
            </a:schemeClr>
          </a:solidFill>
          <a:ln/>
        </p:spPr>
        <p:txBody>
          <a:bodyPr/>
          <a:lstStyle/>
          <a:p>
            <a:endParaRPr lang="de-DE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84010" y="5902941"/>
            <a:ext cx="179879" cy="143966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807851" y="5702101"/>
            <a:ext cx="5568414" cy="10916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6000"/>
              </a:lnSpc>
              <a:buNone/>
            </a:pPr>
            <a:r>
              <a:rPr lang="en-US" sz="1600" dirty="0">
                <a:solidFill>
                  <a:srgbClr val="000000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Durch gezielte Bereinigung und Feature Engineering wurde eine belastbare </a:t>
            </a:r>
            <a:r>
              <a:rPr lang="en-US" sz="1600" dirty="0" err="1">
                <a:solidFill>
                  <a:srgbClr val="000000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Analysegrundlage</a:t>
            </a:r>
            <a:r>
              <a:rPr lang="en-US" sz="1600" dirty="0">
                <a:solidFill>
                  <a:srgbClr val="000000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 </a:t>
            </a:r>
            <a:r>
              <a:rPr lang="en-US" sz="1600" dirty="0" err="1">
                <a:solidFill>
                  <a:srgbClr val="000000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geschaffen</a:t>
            </a:r>
            <a:endParaRPr lang="en-US" sz="1600" dirty="0"/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3565BD8D-CD71-FD1E-504F-7151410ADA9A}"/>
              </a:ext>
            </a:extLst>
          </p:cNvPr>
          <p:cNvSpPr txBox="1"/>
          <p:nvPr/>
        </p:nvSpPr>
        <p:spPr>
          <a:xfrm>
            <a:off x="11764652" y="6454588"/>
            <a:ext cx="49010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600" dirty="0">
                <a:latin typeface="Aptos Narrow" panose="020B0004020202020204" pitchFamily="34" charset="0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26164" y="391418"/>
            <a:ext cx="10752067" cy="55512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600" b="1" dirty="0" err="1">
                <a:solidFill>
                  <a:srgbClr val="000000"/>
                </a:solidFill>
                <a:latin typeface="Aptos Narrow" panose="020B0004020202020204" pitchFamily="34" charset="0"/>
                <a:ea typeface="Montserrat Bold" pitchFamily="34" charset="-122"/>
                <a:cs typeface="Montserrat Bold" pitchFamily="34" charset="-120"/>
              </a:rPr>
              <a:t>Geschäftsanalyse</a:t>
            </a:r>
            <a:endParaRPr lang="en-US" sz="3450" dirty="0"/>
          </a:p>
        </p:txBody>
      </p:sp>
      <p:sp>
        <p:nvSpPr>
          <p:cNvPr id="4" name="Text 2"/>
          <p:cNvSpPr/>
          <p:nvPr/>
        </p:nvSpPr>
        <p:spPr>
          <a:xfrm>
            <a:off x="719814" y="2226270"/>
            <a:ext cx="5137716" cy="57130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2000"/>
              </a:lnSpc>
              <a:buNone/>
            </a:pP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19814" y="1378638"/>
            <a:ext cx="5524155" cy="318727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lnSpcReduction="10000"/>
          </a:bodyPr>
          <a:lstStyle/>
          <a:p>
            <a:pPr marL="304800" indent="-304800" algn="l">
              <a:lnSpc>
                <a:spcPct val="120000"/>
              </a:lnSpc>
              <a:buSzPct val="100000"/>
              <a:buChar char="•"/>
            </a:pPr>
            <a:r>
              <a:rPr lang="en-US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KPIs: </a:t>
            </a:r>
            <a:r>
              <a:rPr lang="en-US" b="1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Revenue: </a:t>
            </a:r>
            <a:r>
              <a:rPr lang="en-US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13,5 Mio. R$, </a:t>
            </a:r>
            <a:r>
              <a:rPr lang="en-US" b="1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Total Orders: </a:t>
            </a:r>
            <a:r>
              <a:rPr lang="en-US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98.177, </a:t>
            </a:r>
            <a:r>
              <a:rPr lang="en-US" b="1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Customers: </a:t>
            </a:r>
            <a:r>
              <a:rPr lang="en-US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95.828, </a:t>
            </a:r>
            <a:r>
              <a:rPr lang="en-US" b="1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Sellers: </a:t>
            </a:r>
            <a:r>
              <a:rPr lang="en-US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3.088, </a:t>
            </a:r>
            <a:r>
              <a:rPr lang="en-US" b="1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Products: </a:t>
            </a:r>
            <a:r>
              <a:rPr lang="en-US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32.951</a:t>
            </a:r>
          </a:p>
          <a:p>
            <a:pPr marL="304800" indent="-304800" algn="l">
              <a:lnSpc>
                <a:spcPct val="120000"/>
              </a:lnSpc>
              <a:buSzPct val="100000"/>
              <a:buChar char="•"/>
            </a:pPr>
            <a:r>
              <a:rPr lang="en-US" dirty="0" err="1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Olist</a:t>
            </a:r>
            <a:r>
              <a:rPr lang="en-US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 befindet sich im </a:t>
            </a:r>
            <a:r>
              <a:rPr lang="en-US" dirty="0" err="1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betrachteten</a:t>
            </a:r>
            <a:r>
              <a:rPr lang="en-US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 </a:t>
            </a:r>
            <a:r>
              <a:rPr lang="en-US" dirty="0" err="1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Zeitraum</a:t>
            </a:r>
            <a:r>
              <a:rPr lang="en-US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 2016 – 2018 in einer klaren </a:t>
            </a:r>
            <a:r>
              <a:rPr lang="en-US" dirty="0">
                <a:solidFill>
                  <a:srgbClr val="3D3838"/>
                </a:solidFill>
                <a:latin typeface="Aptos Narrow" panose="020B0004020202020204" pitchFamily="34" charset="0"/>
                <a:ea typeface="Source Sans 3 Bold" pitchFamily="34" charset="-122"/>
                <a:cs typeface="Source Sans 3 Bold" pitchFamily="34" charset="-120"/>
              </a:rPr>
              <a:t>Wachstumsphase</a:t>
            </a:r>
            <a:endParaRPr lang="en-US" dirty="0">
              <a:latin typeface="Aptos Narrow" panose="020B0004020202020204" pitchFamily="34" charset="0"/>
            </a:endParaRPr>
          </a:p>
          <a:p>
            <a:pPr marL="304800" indent="-304800" algn="l">
              <a:lnSpc>
                <a:spcPct val="120000"/>
              </a:lnSpc>
              <a:buSzPct val="100000"/>
              <a:buChar char="•"/>
            </a:pPr>
            <a:r>
              <a:rPr lang="en-US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2017 steigt der Umsatz über alle Quartale –</a:t>
            </a:r>
            <a:r>
              <a:rPr lang="en-US" b="1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 </a:t>
            </a:r>
            <a:r>
              <a:rPr lang="en-US" b="1" dirty="0">
                <a:solidFill>
                  <a:srgbClr val="3D3838"/>
                </a:solidFill>
                <a:latin typeface="Aptos Narrow" panose="020B0004020202020204" pitchFamily="34" charset="0"/>
                <a:ea typeface="Source Sans 3 Bold" pitchFamily="34" charset="-122"/>
                <a:cs typeface="Source Sans 3 Bold" pitchFamily="34" charset="-120"/>
              </a:rPr>
              <a:t>Q4 </a:t>
            </a:r>
            <a:r>
              <a:rPr lang="en-US" dirty="0">
                <a:solidFill>
                  <a:srgbClr val="3D3838"/>
                </a:solidFill>
                <a:latin typeface="Aptos Narrow" panose="020B0004020202020204" pitchFamily="34" charset="0"/>
                <a:ea typeface="Source Sans 3 Bold" pitchFamily="34" charset="-122"/>
                <a:cs typeface="Source Sans 3 Bold" pitchFamily="34" charset="-120"/>
              </a:rPr>
              <a:t>ist die stärkste Phase</a:t>
            </a:r>
            <a:endParaRPr lang="en-US" dirty="0">
              <a:latin typeface="Aptos Narrow" panose="020B0004020202020204" pitchFamily="34" charset="0"/>
            </a:endParaRPr>
          </a:p>
          <a:p>
            <a:pPr marL="304800" indent="-304800" algn="l">
              <a:lnSpc>
                <a:spcPct val="120000"/>
              </a:lnSpc>
              <a:buSzPct val="100000"/>
              <a:buChar char="•"/>
            </a:pPr>
            <a:r>
              <a:rPr lang="en-US" dirty="0" err="1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Wichtigste</a:t>
            </a:r>
            <a:r>
              <a:rPr lang="en-US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 </a:t>
            </a:r>
            <a:r>
              <a:rPr lang="en-US" dirty="0" err="1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Produktkategorien</a:t>
            </a:r>
            <a:r>
              <a:rPr lang="en-US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: </a:t>
            </a:r>
            <a:r>
              <a:rPr lang="en-US" b="1" dirty="0">
                <a:solidFill>
                  <a:srgbClr val="3D3838"/>
                </a:solidFill>
                <a:latin typeface="Aptos Narrow" panose="020B0004020202020204" pitchFamily="34" charset="0"/>
                <a:ea typeface="Source Sans 3 Bold" pitchFamily="34" charset="-122"/>
                <a:cs typeface="Source Sans 3 Bold" pitchFamily="34" charset="-120"/>
              </a:rPr>
              <a:t>Health &amp; Beauty</a:t>
            </a:r>
            <a:r>
              <a:rPr lang="en-US" dirty="0">
                <a:solidFill>
                  <a:srgbClr val="3D3838"/>
                </a:solidFill>
                <a:latin typeface="Aptos Narrow" panose="020B0004020202020204" pitchFamily="34" charset="0"/>
                <a:ea typeface="Source Sans 3 Bold" pitchFamily="34" charset="-122"/>
                <a:cs typeface="Source Sans 3 Bold" pitchFamily="34" charset="-120"/>
              </a:rPr>
              <a:t>, </a:t>
            </a:r>
            <a:br>
              <a:rPr lang="en-US" dirty="0">
                <a:solidFill>
                  <a:srgbClr val="3D3838"/>
                </a:solidFill>
                <a:latin typeface="Aptos Narrow" panose="020B0004020202020204" pitchFamily="34" charset="0"/>
                <a:ea typeface="Source Sans 3 Bold" pitchFamily="34" charset="-122"/>
                <a:cs typeface="Source Sans 3 Bold" pitchFamily="34" charset="-120"/>
              </a:rPr>
            </a:br>
            <a:r>
              <a:rPr lang="en-US" b="1" dirty="0">
                <a:solidFill>
                  <a:srgbClr val="3D3838"/>
                </a:solidFill>
                <a:latin typeface="Aptos Narrow" panose="020B0004020202020204" pitchFamily="34" charset="0"/>
                <a:ea typeface="Source Sans 3 Bold" pitchFamily="34" charset="-122"/>
                <a:cs typeface="Source Sans 3 Bold" pitchFamily="34" charset="-120"/>
              </a:rPr>
              <a:t>Watches &amp; Gifts</a:t>
            </a:r>
            <a:r>
              <a:rPr lang="en-US" dirty="0">
                <a:solidFill>
                  <a:srgbClr val="3D3838"/>
                </a:solidFill>
                <a:latin typeface="Aptos Narrow" panose="020B0004020202020204" pitchFamily="34" charset="0"/>
                <a:ea typeface="Source Sans 3 Bold" pitchFamily="34" charset="-122"/>
                <a:cs typeface="Source Sans 3 Bold" pitchFamily="34" charset="-120"/>
              </a:rPr>
              <a:t>, </a:t>
            </a:r>
            <a:r>
              <a:rPr lang="en-US" b="1" dirty="0">
                <a:solidFill>
                  <a:srgbClr val="3D3838"/>
                </a:solidFill>
                <a:latin typeface="Aptos Narrow" panose="020B0004020202020204" pitchFamily="34" charset="0"/>
                <a:ea typeface="Source Sans 3 Bold" pitchFamily="34" charset="-122"/>
                <a:cs typeface="Source Sans 3 Bold" pitchFamily="34" charset="-120"/>
              </a:rPr>
              <a:t>Bed &amp; Bath Table</a:t>
            </a:r>
            <a:endParaRPr lang="en-US" b="1" dirty="0">
              <a:latin typeface="Aptos Narrow" panose="020B0004020202020204" pitchFamily="34" charset="0"/>
            </a:endParaRPr>
          </a:p>
          <a:p>
            <a:pPr marL="304800" indent="-304800" algn="l">
              <a:lnSpc>
                <a:spcPct val="120000"/>
              </a:lnSpc>
              <a:buSzPct val="100000"/>
              <a:buChar char="•"/>
            </a:pPr>
            <a:r>
              <a:rPr lang="en-US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Umsatzkonzentration auf wirtschaftlich starke </a:t>
            </a:r>
            <a:r>
              <a:rPr lang="en-US" dirty="0">
                <a:solidFill>
                  <a:srgbClr val="3D3838"/>
                </a:solidFill>
                <a:latin typeface="Aptos Narrow" panose="020B0004020202020204" pitchFamily="34" charset="0"/>
                <a:ea typeface="Source Sans 3 Bold" pitchFamily="34" charset="-122"/>
                <a:cs typeface="Source Sans 3 Bold" pitchFamily="34" charset="-120"/>
              </a:rPr>
              <a:t>Kernregionen Brasiliens</a:t>
            </a:r>
            <a:endParaRPr lang="en-US" dirty="0">
              <a:latin typeface="Aptos Narrow" panose="020B0004020202020204" pitchFamily="34" charset="0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719814" y="4647244"/>
            <a:ext cx="5137716" cy="900000"/>
          </a:xfrm>
          <a:prstGeom prst="roundRect">
            <a:avLst>
              <a:gd name="adj" fmla="val 2923"/>
            </a:avLst>
          </a:prstGeom>
          <a:solidFill>
            <a:schemeClr val="accent5">
              <a:lumMod val="20000"/>
              <a:lumOff val="80000"/>
            </a:schemeClr>
          </a:solidFill>
          <a:ln/>
        </p:spPr>
        <p:txBody>
          <a:bodyPr/>
          <a:lstStyle/>
          <a:p>
            <a:endParaRPr lang="de-DE"/>
          </a:p>
        </p:txBody>
      </p:sp>
      <p:pic>
        <p:nvPicPr>
          <p:cNvPr id="11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1216" y="4999563"/>
            <a:ext cx="244171" cy="195362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1360744" y="4762985"/>
            <a:ext cx="4307474" cy="9696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2000"/>
              </a:lnSpc>
              <a:buNone/>
            </a:pPr>
            <a:r>
              <a:rPr lang="en-US" dirty="0" err="1">
                <a:solidFill>
                  <a:srgbClr val="000000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Geschäftserfolg</a:t>
            </a:r>
            <a:r>
              <a:rPr lang="en-US" dirty="0">
                <a:solidFill>
                  <a:srgbClr val="000000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 basiert auf starkem Wachstum und </a:t>
            </a:r>
            <a:r>
              <a:rPr lang="en-US" dirty="0" err="1">
                <a:solidFill>
                  <a:srgbClr val="000000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einigen</a:t>
            </a:r>
            <a:r>
              <a:rPr lang="en-US" dirty="0">
                <a:solidFill>
                  <a:srgbClr val="000000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Schlüsselsegmenten</a:t>
            </a:r>
            <a:endParaRPr lang="en-US" dirty="0"/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449D19DE-601A-438D-EF67-615CA39DFD70}"/>
              </a:ext>
            </a:extLst>
          </p:cNvPr>
          <p:cNvSpPr txBox="1"/>
          <p:nvPr/>
        </p:nvSpPr>
        <p:spPr>
          <a:xfrm>
            <a:off x="11764652" y="6454588"/>
            <a:ext cx="49010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600" dirty="0">
                <a:latin typeface="Aptos Narrow" panose="020B0004020202020204" pitchFamily="34" charset="0"/>
              </a:rPr>
              <a:t>5</a:t>
            </a:r>
          </a:p>
        </p:txBody>
      </p:sp>
      <p:pic>
        <p:nvPicPr>
          <p:cNvPr id="19" name="Grafik 18">
            <a:extLst>
              <a:ext uri="{FF2B5EF4-FFF2-40B4-BE49-F238E27FC236}">
                <a16:creationId xmlns:a16="http://schemas.microsoft.com/office/drawing/2014/main" id="{CF4C5016-16BA-87F0-5920-0AB12C07C87C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6613976" y="1378638"/>
            <a:ext cx="4500000" cy="1980309"/>
          </a:xfrm>
          <a:prstGeom prst="rect">
            <a:avLst/>
          </a:prstGeom>
        </p:spPr>
      </p:pic>
      <p:pic>
        <p:nvPicPr>
          <p:cNvPr id="21" name="Grafik 20">
            <a:extLst>
              <a:ext uri="{FF2B5EF4-FFF2-40B4-BE49-F238E27FC236}">
                <a16:creationId xmlns:a16="http://schemas.microsoft.com/office/drawing/2014/main" id="{96CD99F6-B53A-0298-277F-DE02173F826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13976" y="3664795"/>
            <a:ext cx="4500000" cy="1964897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26164" y="376457"/>
            <a:ext cx="10752067" cy="55512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600" b="1" dirty="0" err="1">
                <a:solidFill>
                  <a:srgbClr val="000000"/>
                </a:solidFill>
                <a:latin typeface="Aptos Narrow" panose="020B0004020202020204" pitchFamily="34" charset="0"/>
                <a:ea typeface="Montserrat Bold" pitchFamily="34" charset="-122"/>
                <a:cs typeface="Montserrat Bold" pitchFamily="34" charset="-120"/>
              </a:rPr>
              <a:t>Kundenanalyse</a:t>
            </a:r>
            <a:endParaRPr lang="en-US" sz="3450" dirty="0"/>
          </a:p>
        </p:txBody>
      </p:sp>
      <p:sp>
        <p:nvSpPr>
          <p:cNvPr id="9" name="Text 7"/>
          <p:cNvSpPr/>
          <p:nvPr/>
        </p:nvSpPr>
        <p:spPr>
          <a:xfrm>
            <a:off x="6096000" y="1528165"/>
            <a:ext cx="5219700" cy="319923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04800" indent="-304800" algn="l">
              <a:lnSpc>
                <a:spcPct val="122000"/>
              </a:lnSpc>
              <a:buSzPct val="100000"/>
              <a:buChar char="•"/>
            </a:pPr>
            <a:r>
              <a:rPr lang="en-US" b="1" dirty="0">
                <a:solidFill>
                  <a:srgbClr val="3D3838"/>
                </a:solidFill>
                <a:latin typeface="Aptos Narrow" panose="020B0004020202020204" pitchFamily="34" charset="0"/>
                <a:ea typeface="Source Sans 3 Bold" pitchFamily="34" charset="-122"/>
                <a:cs typeface="Source Sans 3 Bold" pitchFamily="34" charset="-120"/>
              </a:rPr>
              <a:t>São Paulo</a:t>
            </a:r>
            <a:r>
              <a:rPr lang="en-US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 ist der mit Abstand wichtigste Kundenmarkt</a:t>
            </a:r>
            <a:endParaRPr lang="en-US" dirty="0">
              <a:latin typeface="Aptos Narrow" panose="020B0004020202020204" pitchFamily="34" charset="0"/>
            </a:endParaRPr>
          </a:p>
          <a:p>
            <a:pPr marL="304800" indent="-304800" algn="l">
              <a:lnSpc>
                <a:spcPct val="122000"/>
              </a:lnSpc>
              <a:buSzPct val="100000"/>
              <a:buChar char="•"/>
            </a:pPr>
            <a:r>
              <a:rPr lang="en-US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Rio de Janeiro &amp; Minas Gerais leisten </a:t>
            </a:r>
            <a:r>
              <a:rPr lang="en-US" dirty="0" err="1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bedeutende</a:t>
            </a:r>
            <a:r>
              <a:rPr lang="en-US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 </a:t>
            </a:r>
            <a:r>
              <a:rPr lang="en-US" dirty="0" err="1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Beiträge</a:t>
            </a:r>
            <a:r>
              <a:rPr lang="en-US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 </a:t>
            </a:r>
            <a:r>
              <a:rPr lang="en-US" dirty="0" err="1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zum</a:t>
            </a:r>
            <a:r>
              <a:rPr lang="en-US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 </a:t>
            </a:r>
            <a:r>
              <a:rPr lang="en-US" dirty="0" err="1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Gesamtumsatz</a:t>
            </a:r>
            <a:endParaRPr lang="en-US" dirty="0">
              <a:latin typeface="Aptos Narrow" panose="020B0004020202020204" pitchFamily="34" charset="0"/>
            </a:endParaRPr>
          </a:p>
          <a:p>
            <a:pPr marL="304800" indent="-304800" algn="l">
              <a:lnSpc>
                <a:spcPct val="122000"/>
              </a:lnSpc>
              <a:buSzPct val="100000"/>
              <a:buChar char="•"/>
            </a:pPr>
            <a:r>
              <a:rPr lang="en-US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Hohe Kundenzufriedenheit entsteht </a:t>
            </a:r>
            <a:r>
              <a:rPr lang="en-US" dirty="0">
                <a:solidFill>
                  <a:srgbClr val="3D3838"/>
                </a:solidFill>
                <a:latin typeface="Aptos Narrow" panose="020B0004020202020204" pitchFamily="34" charset="0"/>
                <a:ea typeface="Source Sans 3 Bold" pitchFamily="34" charset="-122"/>
                <a:cs typeface="Source Sans 3 Bold" pitchFamily="34" charset="-120"/>
              </a:rPr>
              <a:t>nicht zwangsläufig</a:t>
            </a:r>
            <a:r>
              <a:rPr lang="en-US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 in umsatzstarken Kategorien</a:t>
            </a:r>
            <a:endParaRPr lang="en-US" dirty="0">
              <a:latin typeface="Aptos Narrow" panose="020B0004020202020204" pitchFamily="34" charset="0"/>
            </a:endParaRPr>
          </a:p>
          <a:p>
            <a:pPr marL="304800" indent="-304800" algn="l">
              <a:lnSpc>
                <a:spcPct val="122000"/>
              </a:lnSpc>
              <a:buSzPct val="100000"/>
              <a:buChar char="•"/>
            </a:pPr>
            <a:r>
              <a:rPr lang="de-DE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Umsatzgröße entsteht vor allem durch viele Bestellungen und weniger durch besonders hohe Einzelbestellwerte</a:t>
            </a:r>
            <a:endParaRPr lang="en-US" dirty="0">
              <a:latin typeface="Aptos Narrow" panose="020B0004020202020204" pitchFamily="34" charset="0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6096000" y="4475929"/>
            <a:ext cx="5219700" cy="1288552"/>
          </a:xfrm>
          <a:prstGeom prst="roundRect">
            <a:avLst>
              <a:gd name="adj" fmla="val 2275"/>
            </a:avLst>
          </a:prstGeom>
          <a:solidFill>
            <a:schemeClr val="accent5">
              <a:lumMod val="20000"/>
              <a:lumOff val="80000"/>
            </a:schemeClr>
          </a:solidFill>
          <a:ln/>
        </p:spPr>
        <p:txBody>
          <a:bodyPr/>
          <a:lstStyle/>
          <a:p>
            <a:endParaRPr lang="de-DE"/>
          </a:p>
        </p:txBody>
      </p:sp>
      <p:pic>
        <p:nvPicPr>
          <p:cNvPr id="11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91357" y="4991099"/>
            <a:ext cx="244171" cy="195362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6730885" y="4583572"/>
            <a:ext cx="4307474" cy="128855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2000"/>
              </a:lnSpc>
              <a:buNone/>
            </a:pPr>
            <a:r>
              <a:rPr lang="de-DE" dirty="0">
                <a:solidFill>
                  <a:srgbClr val="000000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Nachfrage, Bestellwerte und Kundenzufrieden-</a:t>
            </a:r>
            <a:r>
              <a:rPr lang="de-DE" dirty="0" err="1">
                <a:solidFill>
                  <a:srgbClr val="000000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heit</a:t>
            </a:r>
            <a:r>
              <a:rPr lang="de-DE" dirty="0">
                <a:solidFill>
                  <a:srgbClr val="000000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 entwickeln sich nicht zwangsläufig gemeinsam</a:t>
            </a:r>
            <a:endParaRPr lang="en-US" dirty="0"/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C8F0B15F-3777-D6B0-3DF4-94FB224BF8CF}"/>
              </a:ext>
            </a:extLst>
          </p:cNvPr>
          <p:cNvSpPr txBox="1"/>
          <p:nvPr/>
        </p:nvSpPr>
        <p:spPr>
          <a:xfrm>
            <a:off x="11764652" y="6454588"/>
            <a:ext cx="49010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600" dirty="0">
                <a:latin typeface="Aptos Narrow" panose="020B0004020202020204" pitchFamily="34" charset="0"/>
              </a:rPr>
              <a:t>6</a:t>
            </a:r>
          </a:p>
        </p:txBody>
      </p:sp>
      <p:pic>
        <p:nvPicPr>
          <p:cNvPr id="16" name="Grafik 15">
            <a:extLst>
              <a:ext uri="{FF2B5EF4-FFF2-40B4-BE49-F238E27FC236}">
                <a16:creationId xmlns:a16="http://schemas.microsoft.com/office/drawing/2014/main" id="{65E1CB7D-21EF-681A-7D69-EC68AD36AF1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6164" y="1528166"/>
            <a:ext cx="4500000" cy="1963918"/>
          </a:xfrm>
          <a:prstGeom prst="rect">
            <a:avLst/>
          </a:prstGeom>
        </p:spPr>
      </p:pic>
      <p:pic>
        <p:nvPicPr>
          <p:cNvPr id="20" name="Grafik 19">
            <a:extLst>
              <a:ext uri="{FF2B5EF4-FFF2-40B4-BE49-F238E27FC236}">
                <a16:creationId xmlns:a16="http://schemas.microsoft.com/office/drawing/2014/main" id="{E9153FA1-F2D0-73D1-FDCD-6690970162E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6164" y="3800563"/>
            <a:ext cx="4500000" cy="196391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19814" y="410667"/>
            <a:ext cx="10752067" cy="5843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600" b="1" dirty="0" err="1">
                <a:solidFill>
                  <a:srgbClr val="000000"/>
                </a:solidFill>
                <a:latin typeface="Aptos Narrow" panose="020B0004020202020204" pitchFamily="34" charset="0"/>
                <a:ea typeface="Montserrat Bold" pitchFamily="34" charset="-122"/>
                <a:cs typeface="Montserrat Bold" pitchFamily="34" charset="-120"/>
              </a:rPr>
              <a:t>Verkäuferanalyse</a:t>
            </a:r>
            <a:endParaRPr lang="en-US" sz="3650" dirty="0"/>
          </a:p>
        </p:txBody>
      </p:sp>
      <p:sp>
        <p:nvSpPr>
          <p:cNvPr id="4" name="Text 2"/>
          <p:cNvSpPr/>
          <p:nvPr/>
        </p:nvSpPr>
        <p:spPr>
          <a:xfrm>
            <a:off x="713769" y="1473578"/>
            <a:ext cx="5169532" cy="30041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25120" indent="-325120" algn="l">
              <a:lnSpc>
                <a:spcPct val="125000"/>
              </a:lnSpc>
              <a:buSzPct val="100000"/>
              <a:buChar char="•"/>
            </a:pPr>
            <a:r>
              <a:rPr lang="de-DE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Umsatzstärkste Verkäufer erzielen ein Vielfaches des durchschnittlichen Verkäuferumsatzes</a:t>
            </a:r>
            <a:endParaRPr lang="en-US" dirty="0">
              <a:solidFill>
                <a:srgbClr val="3D3838"/>
              </a:solidFill>
              <a:latin typeface="Aptos Narrow" panose="020B0004020202020204" pitchFamily="34" charset="0"/>
              <a:ea typeface="Source Sans 3" pitchFamily="34" charset="-122"/>
              <a:cs typeface="Source Sans 3" pitchFamily="34" charset="-120"/>
            </a:endParaRPr>
          </a:p>
          <a:p>
            <a:pPr marL="325120" indent="-325120" algn="l">
              <a:lnSpc>
                <a:spcPct val="125000"/>
              </a:lnSpc>
              <a:buSzPct val="100000"/>
              <a:buChar char="•"/>
            </a:pPr>
            <a:r>
              <a:rPr lang="en-US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Hohe </a:t>
            </a:r>
            <a:r>
              <a:rPr lang="en-US" dirty="0" err="1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Verkäuferumsätze</a:t>
            </a:r>
            <a:r>
              <a:rPr lang="en-US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 treten auf </a:t>
            </a:r>
            <a:r>
              <a:rPr lang="en-US" dirty="0" err="1">
                <a:solidFill>
                  <a:srgbClr val="3D3838"/>
                </a:solidFill>
                <a:latin typeface="Aptos Narrow" panose="020B0004020202020204" pitchFamily="34" charset="0"/>
                <a:ea typeface="Source Sans 3 Bold" pitchFamily="34" charset="-122"/>
                <a:cs typeface="Source Sans 3 Bold" pitchFamily="34" charset="-120"/>
              </a:rPr>
              <a:t>unterschiedlichen</a:t>
            </a:r>
            <a:r>
              <a:rPr lang="en-US" dirty="0">
                <a:solidFill>
                  <a:srgbClr val="3D3838"/>
                </a:solidFill>
                <a:latin typeface="Aptos Narrow" panose="020B0004020202020204" pitchFamily="34" charset="0"/>
                <a:ea typeface="Source Sans 3 Bold" pitchFamily="34" charset="-122"/>
                <a:cs typeface="Source Sans 3 Bold" pitchFamily="34" charset="-120"/>
              </a:rPr>
              <a:t> Bewertungsniveaus</a:t>
            </a:r>
            <a:r>
              <a:rPr lang="en-US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 auf </a:t>
            </a:r>
          </a:p>
          <a:p>
            <a:pPr marL="325120" indent="-325120" algn="l">
              <a:lnSpc>
                <a:spcPct val="125000"/>
              </a:lnSpc>
              <a:buSzPct val="100000"/>
              <a:buChar char="•"/>
            </a:pPr>
            <a:r>
              <a:rPr lang="de-DE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Top-Seller nach Bestellvolumen weisen ausgeglichenere Bewertungsniveaus auf</a:t>
            </a:r>
          </a:p>
          <a:p>
            <a:pPr marL="325120" indent="-325120" algn="l">
              <a:lnSpc>
                <a:spcPct val="125000"/>
              </a:lnSpc>
              <a:buSzPct val="100000"/>
              <a:buChar char="•"/>
            </a:pPr>
            <a:r>
              <a:rPr lang="de-DE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Hohe Umsätze gehen nicht zwangsläufig mit schlechter Lieferperformance einher</a:t>
            </a:r>
          </a:p>
        </p:txBody>
      </p:sp>
      <p:sp>
        <p:nvSpPr>
          <p:cNvPr id="5" name="Shape 3"/>
          <p:cNvSpPr/>
          <p:nvPr/>
        </p:nvSpPr>
        <p:spPr>
          <a:xfrm>
            <a:off x="713769" y="4477730"/>
            <a:ext cx="5125116" cy="1283762"/>
          </a:xfrm>
          <a:prstGeom prst="roundRect">
            <a:avLst>
              <a:gd name="adj" fmla="val 2206"/>
            </a:avLst>
          </a:prstGeom>
          <a:solidFill>
            <a:schemeClr val="accent5">
              <a:lumMod val="20000"/>
              <a:lumOff val="80000"/>
            </a:schemeClr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7" name="Text 4"/>
          <p:cNvSpPr/>
          <p:nvPr/>
        </p:nvSpPr>
        <p:spPr>
          <a:xfrm>
            <a:off x="1382189" y="4587069"/>
            <a:ext cx="4251020" cy="169278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de-DE" dirty="0">
                <a:solidFill>
                  <a:srgbClr val="000000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Erfolgreiche Verkäufer zeichnen sich nicht nur durch hohe Umsätze, sondern auch durch weitere stabile Qualitätskennzahlen aus</a:t>
            </a:r>
            <a:endParaRPr lang="en-US" dirty="0"/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D72CE86F-A64B-B30F-507B-86AFFC113C0F}"/>
              </a:ext>
            </a:extLst>
          </p:cNvPr>
          <p:cNvSpPr txBox="1"/>
          <p:nvPr/>
        </p:nvSpPr>
        <p:spPr>
          <a:xfrm>
            <a:off x="11764652" y="6454588"/>
            <a:ext cx="49010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600" dirty="0">
                <a:latin typeface="Aptos Narrow" panose="020B0004020202020204" pitchFamily="34" charset="0"/>
              </a:rPr>
              <a:t>7</a:t>
            </a:r>
          </a:p>
        </p:txBody>
      </p:sp>
      <p:pic>
        <p:nvPicPr>
          <p:cNvPr id="16" name="Image 0" descr="preencoded.png">
            <a:extLst>
              <a:ext uri="{FF2B5EF4-FFF2-40B4-BE49-F238E27FC236}">
                <a16:creationId xmlns:a16="http://schemas.microsoft.com/office/drawing/2014/main" id="{A8556CC9-2538-5F15-D985-12AE874BE95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5894" y="4981513"/>
            <a:ext cx="244171" cy="195362"/>
          </a:xfrm>
          <a:prstGeom prst="rect">
            <a:avLst/>
          </a:prstGeom>
        </p:spPr>
      </p:pic>
      <p:pic>
        <p:nvPicPr>
          <p:cNvPr id="18" name="Grafik 17">
            <a:extLst>
              <a:ext uri="{FF2B5EF4-FFF2-40B4-BE49-F238E27FC236}">
                <a16:creationId xmlns:a16="http://schemas.microsoft.com/office/drawing/2014/main" id="{C43A4BA3-7C5F-F368-D78C-265FD7914B24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1412"/>
          <a:stretch>
            <a:fillRect/>
          </a:stretch>
        </p:blipFill>
        <p:spPr>
          <a:xfrm>
            <a:off x="6437116" y="1473578"/>
            <a:ext cx="4500000" cy="1947156"/>
          </a:xfrm>
          <a:prstGeom prst="rect">
            <a:avLst/>
          </a:prstGeom>
        </p:spPr>
      </p:pic>
      <p:pic>
        <p:nvPicPr>
          <p:cNvPr id="20" name="Grafik 19">
            <a:extLst>
              <a:ext uri="{FF2B5EF4-FFF2-40B4-BE49-F238E27FC236}">
                <a16:creationId xmlns:a16="http://schemas.microsoft.com/office/drawing/2014/main" id="{70929058-A8C2-9B18-6005-BC3A07E3BCA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37116" y="3786449"/>
            <a:ext cx="4500000" cy="1975043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19814" y="391418"/>
            <a:ext cx="10752067" cy="55512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600" b="1" dirty="0" err="1">
                <a:solidFill>
                  <a:srgbClr val="000000"/>
                </a:solidFill>
                <a:latin typeface="Aptos Narrow" panose="020B0004020202020204" pitchFamily="34" charset="0"/>
              </a:rPr>
              <a:t>Marketinganalyse</a:t>
            </a:r>
            <a:endParaRPr lang="en-US" sz="3450" dirty="0"/>
          </a:p>
        </p:txBody>
      </p:sp>
      <p:sp>
        <p:nvSpPr>
          <p:cNvPr id="9" name="Text 7"/>
          <p:cNvSpPr/>
          <p:nvPr/>
        </p:nvSpPr>
        <p:spPr>
          <a:xfrm>
            <a:off x="6095847" y="1457785"/>
            <a:ext cx="5137716" cy="35448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04800" indent="-304800" algn="l">
              <a:lnSpc>
                <a:spcPct val="122000"/>
              </a:lnSpc>
              <a:buSzPct val="100000"/>
              <a:buChar char="•"/>
            </a:pPr>
            <a:r>
              <a:rPr lang="en-US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Marketingdaten liegen nur für einen </a:t>
            </a:r>
            <a:r>
              <a:rPr lang="en-US" b="1" dirty="0">
                <a:solidFill>
                  <a:srgbClr val="3D3838"/>
                </a:solidFill>
                <a:latin typeface="Aptos Narrow" panose="020B0004020202020204" pitchFamily="34" charset="0"/>
                <a:ea typeface="Source Sans 3 Bold" pitchFamily="34" charset="-122"/>
                <a:cs typeface="Source Sans 3 Bold" pitchFamily="34" charset="-120"/>
              </a:rPr>
              <a:t>kleinen</a:t>
            </a:r>
            <a:r>
              <a:rPr lang="en-US" dirty="0">
                <a:solidFill>
                  <a:srgbClr val="3D3838"/>
                </a:solidFill>
                <a:latin typeface="Aptos Narrow" panose="020B0004020202020204" pitchFamily="34" charset="0"/>
                <a:ea typeface="Source Sans 3 Bold" pitchFamily="34" charset="-122"/>
                <a:cs typeface="Source Sans 3 Bold" pitchFamily="34" charset="-120"/>
              </a:rPr>
              <a:t> Teil</a:t>
            </a:r>
            <a:r>
              <a:rPr lang="en-US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 der Verkäufer vor – </a:t>
            </a:r>
            <a:r>
              <a:rPr lang="en-US" b="1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„no contact" </a:t>
            </a:r>
            <a:r>
              <a:rPr lang="en-US" dirty="0" err="1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dominiert</a:t>
            </a:r>
            <a:endParaRPr lang="en-US" dirty="0">
              <a:solidFill>
                <a:srgbClr val="3D3838"/>
              </a:solidFill>
              <a:latin typeface="Aptos Narrow" panose="020B0004020202020204" pitchFamily="34" charset="0"/>
              <a:ea typeface="Source Sans 3" pitchFamily="34" charset="-122"/>
              <a:cs typeface="Source Sans 3" pitchFamily="34" charset="-120"/>
            </a:endParaRPr>
          </a:p>
          <a:p>
            <a:pPr marL="304800" indent="-304800">
              <a:lnSpc>
                <a:spcPct val="122000"/>
              </a:lnSpc>
              <a:buSzPct val="100000"/>
              <a:buFontTx/>
              <a:buChar char="•"/>
            </a:pPr>
            <a:r>
              <a:rPr lang="de-DE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Unter den dokumentierten Lead </a:t>
            </a:r>
            <a:r>
              <a:rPr lang="de-DE" dirty="0" err="1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Types</a:t>
            </a:r>
            <a:r>
              <a:rPr lang="de-DE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 weist </a:t>
            </a:r>
            <a:r>
              <a:rPr lang="de-DE" b="1" dirty="0" err="1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Online_Big</a:t>
            </a:r>
            <a:r>
              <a:rPr lang="de-DE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 den höchsten aggregierten Umsatz auf</a:t>
            </a:r>
          </a:p>
          <a:p>
            <a:pPr marL="304800" indent="-304800">
              <a:lnSpc>
                <a:spcPct val="122000"/>
              </a:lnSpc>
              <a:buSzPct val="100000"/>
              <a:buFontTx/>
              <a:buChar char="•"/>
            </a:pPr>
            <a:r>
              <a:rPr lang="en-US" dirty="0" err="1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Behaviour</a:t>
            </a:r>
            <a:r>
              <a:rPr lang="en-US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 Profiles unterscheiden sich </a:t>
            </a:r>
            <a:r>
              <a:rPr lang="en-US" dirty="0">
                <a:solidFill>
                  <a:srgbClr val="3D3838"/>
                </a:solidFill>
                <a:latin typeface="Aptos Narrow" panose="020B0004020202020204" pitchFamily="34" charset="0"/>
                <a:ea typeface="Source Sans 3 Bold" pitchFamily="34" charset="-122"/>
                <a:cs typeface="Source Sans 3 Bold" pitchFamily="34" charset="-120"/>
              </a:rPr>
              <a:t>deutlich</a:t>
            </a:r>
            <a:r>
              <a:rPr lang="en-US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 in der Dauer bis zum Vertragsabschluss</a:t>
            </a:r>
            <a:endParaRPr lang="en-US" dirty="0">
              <a:latin typeface="Aptos Narrow" panose="020B0004020202020204" pitchFamily="34" charset="0"/>
            </a:endParaRPr>
          </a:p>
          <a:p>
            <a:pPr marL="304800" indent="-304800" algn="l">
              <a:lnSpc>
                <a:spcPct val="122000"/>
              </a:lnSpc>
              <a:buSzPct val="100000"/>
              <a:buChar char="•"/>
            </a:pPr>
            <a:r>
              <a:rPr lang="en-US" b="1" dirty="0">
                <a:solidFill>
                  <a:srgbClr val="3D3838"/>
                </a:solidFill>
                <a:latin typeface="Aptos Narrow" panose="020B0004020202020204" pitchFamily="34" charset="0"/>
                <a:ea typeface="Source Sans 3 Bold" pitchFamily="34" charset="-122"/>
                <a:cs typeface="Source Sans 3 Bold" pitchFamily="34" charset="-120"/>
              </a:rPr>
              <a:t>Reseller</a:t>
            </a:r>
            <a:r>
              <a:rPr lang="en-US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 übertreffen Manufacturer </a:t>
            </a:r>
            <a:r>
              <a:rPr lang="en-US" dirty="0" err="1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deutlich</a:t>
            </a:r>
            <a:r>
              <a:rPr lang="en-US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 </a:t>
            </a:r>
            <a:r>
              <a:rPr lang="en-US" dirty="0" err="1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bei</a:t>
            </a:r>
            <a:r>
              <a:rPr lang="en-US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 Average Revenue per Seller</a:t>
            </a:r>
          </a:p>
          <a:p>
            <a:pPr marL="304800" indent="-304800" algn="l">
              <a:lnSpc>
                <a:spcPct val="122000"/>
              </a:lnSpc>
              <a:buSzPct val="100000"/>
              <a:buChar char="•"/>
            </a:pPr>
            <a:r>
              <a:rPr lang="de-DE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Business Segment </a:t>
            </a:r>
            <a:r>
              <a:rPr lang="de-DE" b="1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Watches</a:t>
            </a:r>
            <a:r>
              <a:rPr lang="de-DE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 erzielt mit Abstand den höchsten Average Revenue per Seller</a:t>
            </a:r>
            <a:r>
              <a:rPr lang="en-US" b="1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 </a:t>
            </a:r>
            <a:r>
              <a:rPr lang="en-US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(39,02 </a:t>
            </a:r>
            <a:r>
              <a:rPr lang="en-US" dirty="0" err="1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Tsd</a:t>
            </a:r>
            <a:r>
              <a:rPr lang="en-US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. R$)</a:t>
            </a:r>
          </a:p>
          <a:p>
            <a:pPr marL="304800" indent="-304800" algn="l">
              <a:lnSpc>
                <a:spcPct val="122000"/>
              </a:lnSpc>
              <a:buSzPct val="100000"/>
              <a:buChar char="•"/>
            </a:pPr>
            <a:endParaRPr lang="en-US" dirty="0">
              <a:latin typeface="Aptos Narrow" panose="020B0004020202020204" pitchFamily="34" charset="0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6095847" y="5002616"/>
            <a:ext cx="5137716" cy="900000"/>
          </a:xfrm>
          <a:prstGeom prst="roundRect">
            <a:avLst>
              <a:gd name="adj" fmla="val 2923"/>
            </a:avLst>
          </a:prstGeom>
          <a:solidFill>
            <a:srgbClr val="FCF2B5"/>
          </a:solidFill>
          <a:ln/>
        </p:spPr>
        <p:txBody>
          <a:bodyPr/>
          <a:lstStyle/>
          <a:p>
            <a:endParaRPr lang="de-DE" dirty="0"/>
          </a:p>
        </p:txBody>
      </p:sp>
      <p:pic>
        <p:nvPicPr>
          <p:cNvPr id="11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91204" y="5354935"/>
            <a:ext cx="244171" cy="195362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6730732" y="5148273"/>
            <a:ext cx="4307474" cy="119576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2000"/>
              </a:lnSpc>
              <a:buNone/>
            </a:pPr>
            <a:r>
              <a:rPr lang="en-US" dirty="0" err="1">
                <a:solidFill>
                  <a:srgbClr val="000000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Aufgrund</a:t>
            </a:r>
            <a:r>
              <a:rPr lang="en-US" dirty="0">
                <a:solidFill>
                  <a:srgbClr val="000000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erheblicher</a:t>
            </a:r>
            <a:r>
              <a:rPr lang="en-US" dirty="0">
                <a:solidFill>
                  <a:srgbClr val="000000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 Datenlücken sind die Erkenntnisse mit Vorsicht </a:t>
            </a:r>
            <a:r>
              <a:rPr lang="en-US" dirty="0" err="1">
                <a:solidFill>
                  <a:srgbClr val="000000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zu</a:t>
            </a:r>
            <a:r>
              <a:rPr lang="en-US" dirty="0">
                <a:solidFill>
                  <a:srgbClr val="000000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interpretieren</a:t>
            </a:r>
            <a:endParaRPr lang="en-US" dirty="0"/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9E8A5041-0312-4F5D-D026-602D7781A081}"/>
              </a:ext>
            </a:extLst>
          </p:cNvPr>
          <p:cNvSpPr txBox="1"/>
          <p:nvPr/>
        </p:nvSpPr>
        <p:spPr>
          <a:xfrm>
            <a:off x="11764652" y="6454588"/>
            <a:ext cx="49010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600" dirty="0">
                <a:latin typeface="Aptos Narrow" panose="020B0004020202020204" pitchFamily="34" charset="0"/>
              </a:rPr>
              <a:t>8</a:t>
            </a:r>
          </a:p>
        </p:txBody>
      </p:sp>
      <p:pic>
        <p:nvPicPr>
          <p:cNvPr id="18" name="Grafik 17">
            <a:extLst>
              <a:ext uri="{FF2B5EF4-FFF2-40B4-BE49-F238E27FC236}">
                <a16:creationId xmlns:a16="http://schemas.microsoft.com/office/drawing/2014/main" id="{1C41401C-B335-ED92-D421-4CADF130FCD2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713769" y="3594759"/>
            <a:ext cx="4500000" cy="1941781"/>
          </a:xfrm>
          <a:prstGeom prst="rect">
            <a:avLst/>
          </a:prstGeom>
        </p:spPr>
      </p:pic>
      <p:pic>
        <p:nvPicPr>
          <p:cNvPr id="20" name="Grafik 19">
            <a:extLst>
              <a:ext uri="{FF2B5EF4-FFF2-40B4-BE49-F238E27FC236}">
                <a16:creationId xmlns:a16="http://schemas.microsoft.com/office/drawing/2014/main" id="{DEC8D638-BF33-5A2C-F6BB-487155A6AEC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3769" y="1457786"/>
            <a:ext cx="4500000" cy="1971649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19814" y="387257"/>
            <a:ext cx="10752067" cy="5258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600" b="1" dirty="0">
                <a:solidFill>
                  <a:srgbClr val="000000"/>
                </a:solidFill>
                <a:latin typeface="Aptos Narrow" panose="020B0004020202020204" pitchFamily="34" charset="0"/>
                <a:ea typeface="Montserrat Bold" pitchFamily="34" charset="-122"/>
                <a:cs typeface="Montserrat Bold" pitchFamily="34" charset="-120"/>
              </a:rPr>
              <a:t>Seller Scoring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6179089" y="1178017"/>
            <a:ext cx="5150217" cy="2629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b="1" dirty="0">
                <a:solidFill>
                  <a:srgbClr val="000000"/>
                </a:solidFill>
                <a:latin typeface="Aptos Narrow" panose="020B0004020202020204" pitchFamily="34" charset="0"/>
                <a:ea typeface="Montserrat Bold" pitchFamily="34" charset="-122"/>
                <a:cs typeface="Montserrat Bold" pitchFamily="34" charset="-120"/>
              </a:rPr>
              <a:t>Seller Score</a:t>
            </a: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6179089" y="1570209"/>
            <a:ext cx="5668652" cy="15106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294640" indent="-294640" algn="l">
              <a:lnSpc>
                <a:spcPct val="119000"/>
              </a:lnSpc>
              <a:buSzPct val="100000"/>
              <a:buChar char="•"/>
            </a:pPr>
            <a:r>
              <a:rPr lang="en-US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Score kombiniert vier </a:t>
            </a:r>
            <a:r>
              <a:rPr lang="en-US" dirty="0" err="1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Erfolgsdimensionen</a:t>
            </a:r>
            <a:r>
              <a:rPr lang="en-US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 </a:t>
            </a:r>
            <a:r>
              <a:rPr lang="en-US" dirty="0" err="1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zu</a:t>
            </a:r>
            <a:r>
              <a:rPr lang="en-US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 </a:t>
            </a:r>
            <a:r>
              <a:rPr lang="en-US" dirty="0" err="1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einer</a:t>
            </a:r>
            <a:r>
              <a:rPr lang="en-US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 </a:t>
            </a:r>
            <a:r>
              <a:rPr lang="en-US" dirty="0" err="1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ganzheitlichen</a:t>
            </a:r>
            <a:r>
              <a:rPr lang="en-US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 </a:t>
            </a:r>
            <a:r>
              <a:rPr lang="en-US" dirty="0" err="1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Bewertung</a:t>
            </a:r>
            <a:r>
              <a:rPr lang="en-US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 der </a:t>
            </a:r>
            <a:r>
              <a:rPr lang="en-US" dirty="0" err="1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Verkäuferleistung</a:t>
            </a:r>
            <a:endParaRPr lang="en-US" dirty="0">
              <a:solidFill>
                <a:srgbClr val="3D3838"/>
              </a:solidFill>
              <a:latin typeface="Aptos Narrow" panose="020B0004020202020204" pitchFamily="34" charset="0"/>
              <a:ea typeface="Source Sans 3" pitchFamily="34" charset="-122"/>
              <a:cs typeface="Source Sans 3" pitchFamily="34" charset="-120"/>
            </a:endParaRPr>
          </a:p>
          <a:p>
            <a:pPr marL="294640" indent="-294640" algn="l">
              <a:lnSpc>
                <a:spcPct val="119000"/>
              </a:lnSpc>
              <a:buSzPct val="100000"/>
              <a:buChar char="•"/>
            </a:pPr>
            <a:r>
              <a:rPr lang="de-DE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Bester Verkäufer erreicht 88,60 von maximal 100 Points</a:t>
            </a:r>
            <a:endParaRPr lang="en-US" dirty="0">
              <a:latin typeface="Aptos Narrow" panose="020B0004020202020204" pitchFamily="34" charset="0"/>
            </a:endParaRPr>
          </a:p>
        </p:txBody>
      </p:sp>
      <p:sp>
        <p:nvSpPr>
          <p:cNvPr id="10" name="Text 8"/>
          <p:cNvSpPr/>
          <p:nvPr/>
        </p:nvSpPr>
        <p:spPr>
          <a:xfrm>
            <a:off x="6179242" y="2980229"/>
            <a:ext cx="5150217" cy="2629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b="1" dirty="0" err="1">
                <a:solidFill>
                  <a:srgbClr val="000000"/>
                </a:solidFill>
                <a:latin typeface="Aptos Narrow" panose="020B0004020202020204" pitchFamily="34" charset="0"/>
                <a:ea typeface="Montserrat Bold" pitchFamily="34" charset="-122"/>
                <a:cs typeface="Montserrat Bold" pitchFamily="34" charset="-120"/>
              </a:rPr>
              <a:t>Mehrwert</a:t>
            </a:r>
            <a:r>
              <a:rPr lang="en-US" b="1" dirty="0">
                <a:solidFill>
                  <a:srgbClr val="000000"/>
                </a:solidFill>
                <a:latin typeface="Aptos Narrow" panose="020B0004020202020204" pitchFamily="34" charset="0"/>
                <a:ea typeface="Montserrat Bold" pitchFamily="34" charset="-122"/>
                <a:cs typeface="Montserrat Bold" pitchFamily="34" charset="-120"/>
              </a:rPr>
              <a:t> des Scores</a:t>
            </a: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6179242" y="3369803"/>
            <a:ext cx="5668652" cy="244694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294640" indent="-294640" algn="l">
              <a:lnSpc>
                <a:spcPct val="119000"/>
              </a:lnSpc>
              <a:buSzPct val="100000"/>
              <a:buChar char="•"/>
            </a:pPr>
            <a:r>
              <a:rPr lang="de-DE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Objektive Bewertung der Verkäuferleistung</a:t>
            </a:r>
          </a:p>
          <a:p>
            <a:pPr marL="294640" indent="-294640" algn="l">
              <a:lnSpc>
                <a:spcPct val="119000"/>
              </a:lnSpc>
              <a:buSzPct val="100000"/>
              <a:buChar char="•"/>
            </a:pPr>
            <a:r>
              <a:rPr lang="de-DE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Vergleichbarkeit über mehrere Erfolgsdimensionen</a:t>
            </a:r>
          </a:p>
          <a:p>
            <a:pPr marL="294640" indent="-294640" algn="l">
              <a:lnSpc>
                <a:spcPct val="119000"/>
              </a:lnSpc>
              <a:buSzPct val="100000"/>
              <a:buChar char="•"/>
            </a:pPr>
            <a:r>
              <a:rPr lang="de-DE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Marketing- und Lead-Attribute können anhand der Verkäuferqualität bewertet werden</a:t>
            </a:r>
          </a:p>
          <a:p>
            <a:pPr marL="294640" indent="-294640" algn="l">
              <a:lnSpc>
                <a:spcPct val="119000"/>
              </a:lnSpc>
              <a:buSzPct val="100000"/>
              <a:buChar char="•"/>
            </a:pPr>
            <a:r>
              <a:rPr lang="de-DE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Datenbasierte Grundlage zur Identifikation hochwertiger Verkäufer</a:t>
            </a:r>
            <a:endParaRPr lang="en-US" dirty="0">
              <a:latin typeface="Aptos Narrow" panose="020B0004020202020204" pitchFamily="34" charset="0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720119" y="5716159"/>
            <a:ext cx="2563054" cy="720000"/>
          </a:xfrm>
          <a:prstGeom prst="roundRect">
            <a:avLst>
              <a:gd name="adj" fmla="val 3099"/>
            </a:avLst>
          </a:prstGeom>
          <a:solidFill>
            <a:srgbClr val="F2EEEE"/>
          </a:solidFill>
          <a:ln>
            <a:solidFill>
              <a:srgbClr val="D8D4D4"/>
            </a:solidFill>
          </a:ln>
        </p:spPr>
        <p:txBody>
          <a:bodyPr/>
          <a:lstStyle/>
          <a:p>
            <a:endParaRPr lang="de-DE" dirty="0"/>
          </a:p>
        </p:txBody>
      </p:sp>
      <p:sp>
        <p:nvSpPr>
          <p:cNvPr id="13" name="Text 11"/>
          <p:cNvSpPr/>
          <p:nvPr/>
        </p:nvSpPr>
        <p:spPr>
          <a:xfrm>
            <a:off x="905157" y="5951665"/>
            <a:ext cx="2192977" cy="29673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600" b="1" dirty="0">
                <a:solidFill>
                  <a:srgbClr val="3D3838"/>
                </a:solidFill>
                <a:latin typeface="Aptos Narrow" panose="020B0004020202020204" pitchFamily="34" charset="0"/>
                <a:ea typeface="Montserrat Bold" pitchFamily="34" charset="-122"/>
                <a:cs typeface="Montserrat Bold" pitchFamily="34" charset="-120"/>
              </a:rPr>
              <a:t>Revenue (max. 40 pts)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3449529" y="5716159"/>
            <a:ext cx="2563054" cy="720000"/>
          </a:xfrm>
          <a:prstGeom prst="roundRect">
            <a:avLst>
              <a:gd name="adj" fmla="val 3099"/>
            </a:avLst>
          </a:prstGeom>
          <a:solidFill>
            <a:srgbClr val="F2EEEE"/>
          </a:solidFill>
          <a:ln>
            <a:solidFill>
              <a:srgbClr val="D8D4D4"/>
            </a:solidFill>
          </a:ln>
        </p:spPr>
        <p:txBody>
          <a:bodyPr/>
          <a:lstStyle/>
          <a:p>
            <a:endParaRPr lang="de-DE"/>
          </a:p>
        </p:txBody>
      </p:sp>
      <p:sp>
        <p:nvSpPr>
          <p:cNvPr id="15" name="Text 13"/>
          <p:cNvSpPr/>
          <p:nvPr/>
        </p:nvSpPr>
        <p:spPr>
          <a:xfrm>
            <a:off x="3634567" y="5955543"/>
            <a:ext cx="2192977" cy="29285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600" b="1" dirty="0">
                <a:solidFill>
                  <a:srgbClr val="3D3838"/>
                </a:solidFill>
                <a:latin typeface="Aptos Narrow" panose="020B0004020202020204" pitchFamily="34" charset="0"/>
                <a:ea typeface="Montserrat Bold" pitchFamily="34" charset="-122"/>
                <a:cs typeface="Montserrat Bold" pitchFamily="34" charset="-120"/>
              </a:rPr>
              <a:t>Orders (max. 25 pts)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6179090" y="5716159"/>
            <a:ext cx="2563054" cy="720000"/>
          </a:xfrm>
          <a:prstGeom prst="roundRect">
            <a:avLst>
              <a:gd name="adj" fmla="val 3099"/>
            </a:avLst>
          </a:prstGeom>
          <a:solidFill>
            <a:srgbClr val="F2EEEE"/>
          </a:solidFill>
          <a:ln>
            <a:solidFill>
              <a:srgbClr val="D8D4D4"/>
            </a:solidFill>
          </a:ln>
        </p:spPr>
        <p:txBody>
          <a:bodyPr/>
          <a:lstStyle/>
          <a:p>
            <a:endParaRPr lang="de-DE" dirty="0"/>
          </a:p>
        </p:txBody>
      </p:sp>
      <p:sp>
        <p:nvSpPr>
          <p:cNvPr id="17" name="Text 15"/>
          <p:cNvSpPr/>
          <p:nvPr/>
        </p:nvSpPr>
        <p:spPr>
          <a:xfrm>
            <a:off x="6197621" y="5951665"/>
            <a:ext cx="2526068" cy="29673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600" b="1" dirty="0">
                <a:solidFill>
                  <a:srgbClr val="3D3838"/>
                </a:solidFill>
                <a:latin typeface="Aptos Narrow" panose="020B0004020202020204" pitchFamily="34" charset="0"/>
                <a:ea typeface="Montserrat Bold" pitchFamily="34" charset="-122"/>
                <a:cs typeface="Montserrat Bold" pitchFamily="34" charset="-120"/>
              </a:rPr>
              <a:t>Delivery (max. 20 pts)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908728" y="5716159"/>
            <a:ext cx="2563153" cy="720000"/>
          </a:xfrm>
          <a:prstGeom prst="roundRect">
            <a:avLst>
              <a:gd name="adj" fmla="val 3099"/>
            </a:avLst>
          </a:prstGeom>
          <a:solidFill>
            <a:srgbClr val="F2EEEE"/>
          </a:solidFill>
          <a:ln>
            <a:solidFill>
              <a:srgbClr val="D8D4D4"/>
            </a:solidFill>
          </a:ln>
        </p:spPr>
        <p:txBody>
          <a:bodyPr/>
          <a:lstStyle/>
          <a:p>
            <a:endParaRPr lang="de-DE"/>
          </a:p>
        </p:txBody>
      </p:sp>
      <p:sp>
        <p:nvSpPr>
          <p:cNvPr id="19" name="Text 17"/>
          <p:cNvSpPr/>
          <p:nvPr/>
        </p:nvSpPr>
        <p:spPr>
          <a:xfrm>
            <a:off x="8908727" y="5945409"/>
            <a:ext cx="2563153" cy="30100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600" b="1" dirty="0">
                <a:solidFill>
                  <a:srgbClr val="3D3838"/>
                </a:solidFill>
                <a:latin typeface="Aptos Narrow" panose="020B0004020202020204" pitchFamily="34" charset="0"/>
                <a:ea typeface="Montserrat Bold" pitchFamily="34" charset="-122"/>
                <a:cs typeface="Montserrat Bold" pitchFamily="34" charset="-120"/>
              </a:rPr>
              <a:t>Review (max. 15 pts)</a:t>
            </a:r>
            <a:endParaRPr lang="en-US" sz="1600" dirty="0"/>
          </a:p>
        </p:txBody>
      </p:sp>
      <p:sp>
        <p:nvSpPr>
          <p:cNvPr id="21" name="Textfeld 20">
            <a:extLst>
              <a:ext uri="{FF2B5EF4-FFF2-40B4-BE49-F238E27FC236}">
                <a16:creationId xmlns:a16="http://schemas.microsoft.com/office/drawing/2014/main" id="{213AE4AD-C40A-AEE9-91EA-B102F3123B19}"/>
              </a:ext>
            </a:extLst>
          </p:cNvPr>
          <p:cNvSpPr txBox="1"/>
          <p:nvPr/>
        </p:nvSpPr>
        <p:spPr>
          <a:xfrm>
            <a:off x="11764652" y="6454588"/>
            <a:ext cx="49010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600" dirty="0">
                <a:latin typeface="Aptos Narrow" panose="020B0004020202020204" pitchFamily="34" charset="0"/>
              </a:rPr>
              <a:t>9</a:t>
            </a:r>
          </a:p>
        </p:txBody>
      </p:sp>
      <p:pic>
        <p:nvPicPr>
          <p:cNvPr id="25" name="Grafik 24">
            <a:extLst>
              <a:ext uri="{FF2B5EF4-FFF2-40B4-BE49-F238E27FC236}">
                <a16:creationId xmlns:a16="http://schemas.microsoft.com/office/drawing/2014/main" id="{6907CCB9-0AF0-A467-4C7B-7EE8926DCEC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720119" y="1173197"/>
            <a:ext cx="4500000" cy="1959552"/>
          </a:xfrm>
          <a:prstGeom prst="rect">
            <a:avLst/>
          </a:prstGeom>
        </p:spPr>
      </p:pic>
      <p:pic>
        <p:nvPicPr>
          <p:cNvPr id="27" name="Grafik 26">
            <a:extLst>
              <a:ext uri="{FF2B5EF4-FFF2-40B4-BE49-F238E27FC236}">
                <a16:creationId xmlns:a16="http://schemas.microsoft.com/office/drawing/2014/main" id="{B0F0D457-271A-910D-5653-760DE4ADB3C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0119" y="3366261"/>
            <a:ext cx="4500000" cy="1956185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19813" y="470939"/>
            <a:ext cx="10752067" cy="4382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600" b="1" dirty="0">
                <a:solidFill>
                  <a:srgbClr val="000000"/>
                </a:solidFill>
                <a:latin typeface="Aptos Narrow" panose="020B0004020202020204" pitchFamily="34" charset="0"/>
                <a:ea typeface="Montserrat Bold" pitchFamily="34" charset="-122"/>
                <a:cs typeface="Montserrat Bold" pitchFamily="34" charset="-120"/>
              </a:rPr>
              <a:t>Handlungsempfehlungen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719812" y="1313331"/>
            <a:ext cx="10752067" cy="10688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9000"/>
              </a:lnSpc>
              <a:buNone/>
            </a:pPr>
            <a:r>
              <a:rPr lang="de-DE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Olist kann Marketing- und Vertriebsmaßnahmen gezielter ausrichten, indem erfolgreiche Marktsegmente, Verkäufermerkmale und Marketingdaten systematisch analysiert und genutzt werden.</a:t>
            </a:r>
            <a:endParaRPr lang="en-US" dirty="0"/>
          </a:p>
        </p:txBody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9814" y="3541233"/>
            <a:ext cx="10780601" cy="12600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31641" y="4011155"/>
            <a:ext cx="231372" cy="28922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3D3838"/>
                </a:solidFill>
                <a:latin typeface="Aptos Narrow" panose="020B0004020202020204" pitchFamily="34" charset="0"/>
                <a:ea typeface="Montserrat Bold" pitchFamily="34" charset="-122"/>
                <a:cs typeface="Montserrat Bold" pitchFamily="34" charset="-120"/>
              </a:rPr>
              <a:t>2</a:t>
            </a:r>
            <a:endParaRPr lang="en-US" sz="1800" dirty="0"/>
          </a:p>
        </p:txBody>
      </p:sp>
      <p:sp>
        <p:nvSpPr>
          <p:cNvPr id="10" name="Text 6"/>
          <p:cNvSpPr/>
          <p:nvPr/>
        </p:nvSpPr>
        <p:spPr>
          <a:xfrm>
            <a:off x="1471728" y="3792080"/>
            <a:ext cx="9827074" cy="2190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b="1" dirty="0" err="1">
                <a:solidFill>
                  <a:srgbClr val="3D3838"/>
                </a:solidFill>
                <a:latin typeface="Aptos Narrow" panose="020B0004020202020204" pitchFamily="34" charset="0"/>
                <a:ea typeface="Montserrat Bold" pitchFamily="34" charset="-122"/>
                <a:cs typeface="Montserrat Bold" pitchFamily="34" charset="-120"/>
              </a:rPr>
              <a:t>Erfolgreiche</a:t>
            </a:r>
            <a:r>
              <a:rPr lang="en-US" b="1" dirty="0">
                <a:solidFill>
                  <a:srgbClr val="3D3838"/>
                </a:solidFill>
                <a:latin typeface="Aptos Narrow" panose="020B0004020202020204" pitchFamily="34" charset="0"/>
                <a:ea typeface="Montserrat Bold" pitchFamily="34" charset="-122"/>
                <a:cs typeface="Montserrat Bold" pitchFamily="34" charset="-120"/>
              </a:rPr>
              <a:t> </a:t>
            </a:r>
            <a:r>
              <a:rPr lang="en-US" b="1" dirty="0" err="1">
                <a:solidFill>
                  <a:srgbClr val="3D3838"/>
                </a:solidFill>
                <a:latin typeface="Aptos Narrow" panose="020B0004020202020204" pitchFamily="34" charset="0"/>
                <a:ea typeface="Montserrat Bold" pitchFamily="34" charset="-122"/>
                <a:cs typeface="Montserrat Bold" pitchFamily="34" charset="-120"/>
              </a:rPr>
              <a:t>Verkäufer</a:t>
            </a:r>
            <a:r>
              <a:rPr lang="en-US" b="1" dirty="0">
                <a:solidFill>
                  <a:srgbClr val="3D3838"/>
                </a:solidFill>
                <a:latin typeface="Aptos Narrow" panose="020B0004020202020204" pitchFamily="34" charset="0"/>
                <a:ea typeface="Montserrat Bold" pitchFamily="34" charset="-122"/>
                <a:cs typeface="Montserrat Bold" pitchFamily="34" charset="-120"/>
              </a:rPr>
              <a:t> </a:t>
            </a:r>
            <a:r>
              <a:rPr lang="en-US" b="1" dirty="0" err="1">
                <a:solidFill>
                  <a:srgbClr val="3D3838"/>
                </a:solidFill>
                <a:latin typeface="Aptos Narrow" panose="020B0004020202020204" pitchFamily="34" charset="0"/>
                <a:ea typeface="Montserrat Bold" pitchFamily="34" charset="-122"/>
                <a:cs typeface="Montserrat Bold" pitchFamily="34" charset="-120"/>
              </a:rPr>
              <a:t>gezielt</a:t>
            </a:r>
            <a:r>
              <a:rPr lang="en-US" b="1" dirty="0">
                <a:solidFill>
                  <a:srgbClr val="3D3838"/>
                </a:solidFill>
                <a:latin typeface="Aptos Narrow" panose="020B0004020202020204" pitchFamily="34" charset="0"/>
                <a:ea typeface="Montserrat Bold" pitchFamily="34" charset="-122"/>
                <a:cs typeface="Montserrat Bold" pitchFamily="34" charset="-120"/>
              </a:rPr>
              <a:t> </a:t>
            </a:r>
            <a:r>
              <a:rPr lang="en-US" b="1" dirty="0" err="1">
                <a:solidFill>
                  <a:srgbClr val="3D3838"/>
                </a:solidFill>
                <a:latin typeface="Aptos Narrow" panose="020B0004020202020204" pitchFamily="34" charset="0"/>
                <a:ea typeface="Montserrat Bold" pitchFamily="34" charset="-122"/>
                <a:cs typeface="Montserrat Bold" pitchFamily="34" charset="-120"/>
              </a:rPr>
              <a:t>priorisieren</a:t>
            </a:r>
            <a:endParaRPr lang="en-US" dirty="0"/>
          </a:p>
        </p:txBody>
      </p:sp>
      <p:sp>
        <p:nvSpPr>
          <p:cNvPr id="11" name="Text 7"/>
          <p:cNvSpPr/>
          <p:nvPr/>
        </p:nvSpPr>
        <p:spPr>
          <a:xfrm>
            <a:off x="1471728" y="4161535"/>
            <a:ext cx="9827074" cy="20240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9000"/>
              </a:lnSpc>
              <a:buNone/>
            </a:pPr>
            <a:r>
              <a:rPr lang="de-DE" sz="1600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Verkäuferleistung durch Seller Score ganzheitlich bewerten und besonders erfolgreiche Verkäufer priorisieren.</a:t>
            </a:r>
            <a:endParaRPr lang="en-US" sz="1600" dirty="0"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9965" y="4908299"/>
            <a:ext cx="10780610" cy="126000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930097" y="5360827"/>
            <a:ext cx="231372" cy="28922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3D3838"/>
                </a:solidFill>
                <a:latin typeface="Aptos Narrow" panose="020B0004020202020204" pitchFamily="34" charset="0"/>
                <a:ea typeface="Montserrat Bold" pitchFamily="34" charset="-122"/>
                <a:cs typeface="Montserrat Bold" pitchFamily="34" charset="-120"/>
              </a:rPr>
              <a:t>3</a:t>
            </a:r>
            <a:endParaRPr lang="en-US" sz="1800" dirty="0"/>
          </a:p>
        </p:txBody>
      </p:sp>
      <p:sp>
        <p:nvSpPr>
          <p:cNvPr id="14" name="Text 9"/>
          <p:cNvSpPr/>
          <p:nvPr/>
        </p:nvSpPr>
        <p:spPr>
          <a:xfrm>
            <a:off x="1471728" y="5065499"/>
            <a:ext cx="9827074" cy="2190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b="1" dirty="0" err="1">
                <a:solidFill>
                  <a:srgbClr val="3D3838"/>
                </a:solidFill>
                <a:latin typeface="Aptos Narrow" panose="020B0004020202020204" pitchFamily="34" charset="0"/>
                <a:ea typeface="Montserrat Bold" pitchFamily="34" charset="-122"/>
                <a:cs typeface="Montserrat Bold" pitchFamily="34" charset="-120"/>
              </a:rPr>
              <a:t>Marketingdaten</a:t>
            </a:r>
            <a:r>
              <a:rPr lang="en-US" b="1" dirty="0">
                <a:solidFill>
                  <a:srgbClr val="3D3838"/>
                </a:solidFill>
                <a:latin typeface="Aptos Narrow" panose="020B0004020202020204" pitchFamily="34" charset="0"/>
                <a:ea typeface="Montserrat Bold" pitchFamily="34" charset="-122"/>
                <a:cs typeface="Montserrat Bold" pitchFamily="34" charset="-120"/>
              </a:rPr>
              <a:t> </a:t>
            </a:r>
            <a:r>
              <a:rPr lang="en-US" b="1" dirty="0" err="1">
                <a:solidFill>
                  <a:srgbClr val="3D3838"/>
                </a:solidFill>
                <a:latin typeface="Aptos Narrow" panose="020B0004020202020204" pitchFamily="34" charset="0"/>
                <a:ea typeface="Montserrat Bold" pitchFamily="34" charset="-122"/>
                <a:cs typeface="Montserrat Bold" pitchFamily="34" charset="-120"/>
              </a:rPr>
              <a:t>systematisch</a:t>
            </a:r>
            <a:r>
              <a:rPr lang="en-US" b="1" dirty="0">
                <a:solidFill>
                  <a:srgbClr val="3D3838"/>
                </a:solidFill>
                <a:latin typeface="Aptos Narrow" panose="020B0004020202020204" pitchFamily="34" charset="0"/>
                <a:ea typeface="Montserrat Bold" pitchFamily="34" charset="-122"/>
                <a:cs typeface="Montserrat Bold" pitchFamily="34" charset="-120"/>
              </a:rPr>
              <a:t> </a:t>
            </a:r>
            <a:r>
              <a:rPr lang="en-US" b="1" dirty="0" err="1">
                <a:solidFill>
                  <a:srgbClr val="3D3838"/>
                </a:solidFill>
                <a:latin typeface="Aptos Narrow" panose="020B0004020202020204" pitchFamily="34" charset="0"/>
                <a:ea typeface="Montserrat Bold" pitchFamily="34" charset="-122"/>
                <a:cs typeface="Montserrat Bold" pitchFamily="34" charset="-120"/>
              </a:rPr>
              <a:t>erfassen</a:t>
            </a:r>
            <a:endParaRPr lang="en-US" dirty="0"/>
          </a:p>
        </p:txBody>
      </p:sp>
      <p:pic>
        <p:nvPicPr>
          <p:cNvPr id="18" name="Image 1" descr="preencoded.png">
            <a:extLst>
              <a:ext uri="{FF2B5EF4-FFF2-40B4-BE49-F238E27FC236}">
                <a16:creationId xmlns:a16="http://schemas.microsoft.com/office/drawing/2014/main" id="{726E9049-E259-0249-01CB-006D5AFDA40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19974" y="2174167"/>
            <a:ext cx="10780601" cy="126000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1471728" y="5447644"/>
            <a:ext cx="9827074" cy="20240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9000"/>
              </a:lnSpc>
              <a:buNone/>
            </a:pPr>
            <a:r>
              <a:rPr lang="de-DE" sz="1600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Marketinginformationen standardisieren und erfassen, um erfolgreiche Lead Sources zukünftig belastbar identifizieren, </a:t>
            </a:r>
          </a:p>
          <a:p>
            <a:pPr marL="0" indent="0" algn="l">
              <a:lnSpc>
                <a:spcPct val="109000"/>
              </a:lnSpc>
              <a:buNone/>
            </a:pPr>
            <a:r>
              <a:rPr lang="de-DE" sz="1600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bewerten und nutzen zu können.</a:t>
            </a:r>
            <a:endParaRPr lang="en-US" sz="1600" dirty="0"/>
          </a:p>
        </p:txBody>
      </p:sp>
      <p:sp>
        <p:nvSpPr>
          <p:cNvPr id="17" name="Textfeld 16">
            <a:extLst>
              <a:ext uri="{FF2B5EF4-FFF2-40B4-BE49-F238E27FC236}">
                <a16:creationId xmlns:a16="http://schemas.microsoft.com/office/drawing/2014/main" id="{7621CCA0-2B6D-FD10-822F-1B131C395F0E}"/>
              </a:ext>
            </a:extLst>
          </p:cNvPr>
          <p:cNvSpPr txBox="1"/>
          <p:nvPr/>
        </p:nvSpPr>
        <p:spPr>
          <a:xfrm>
            <a:off x="11764652" y="6454588"/>
            <a:ext cx="49010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600" dirty="0">
                <a:latin typeface="Aptos Narrow" panose="020B0004020202020204" pitchFamily="34" charset="0"/>
              </a:rPr>
              <a:t>10</a:t>
            </a:r>
          </a:p>
        </p:txBody>
      </p:sp>
      <p:sp>
        <p:nvSpPr>
          <p:cNvPr id="5" name="Text 2"/>
          <p:cNvSpPr/>
          <p:nvPr/>
        </p:nvSpPr>
        <p:spPr>
          <a:xfrm>
            <a:off x="931793" y="2683528"/>
            <a:ext cx="231372" cy="28922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3D3838"/>
                </a:solidFill>
                <a:latin typeface="Aptos Narrow" panose="020B0004020202020204" pitchFamily="34" charset="0"/>
                <a:ea typeface="Montserrat Bold" pitchFamily="34" charset="-122"/>
                <a:cs typeface="Montserrat Bold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1471728" y="2504142"/>
            <a:ext cx="9827074" cy="2190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b="1" dirty="0">
                <a:solidFill>
                  <a:srgbClr val="3D3838"/>
                </a:solidFill>
                <a:latin typeface="Aptos Narrow" panose="020B0004020202020204" pitchFamily="34" charset="0"/>
                <a:ea typeface="Montserrat Bold" pitchFamily="34" charset="-122"/>
                <a:cs typeface="Montserrat Bold" pitchFamily="34" charset="-120"/>
              </a:rPr>
              <a:t>Produktkategorien &amp; Regionen fokussieren</a:t>
            </a:r>
            <a:endParaRPr lang="en-US" dirty="0"/>
          </a:p>
        </p:txBody>
      </p:sp>
      <p:sp>
        <p:nvSpPr>
          <p:cNvPr id="7" name="Text 4"/>
          <p:cNvSpPr/>
          <p:nvPr/>
        </p:nvSpPr>
        <p:spPr>
          <a:xfrm>
            <a:off x="1471728" y="2853468"/>
            <a:ext cx="9615372" cy="4426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9000"/>
              </a:lnSpc>
              <a:buNone/>
            </a:pPr>
            <a:r>
              <a:rPr lang="de-DE" sz="1600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Marketing- und Vertriebsmaßnahmen auf besonders umsatzstarke Produktkategorien und Kernregionen konzentrieren.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1336</Words>
  <Application>Microsoft Office PowerPoint</Application>
  <PresentationFormat>Breitbild</PresentationFormat>
  <Paragraphs>184</Paragraphs>
  <Slides>11</Slides>
  <Notes>11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2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11</vt:i4>
      </vt:variant>
    </vt:vector>
  </HeadingPairs>
  <TitlesOfParts>
    <vt:vector size="14" baseType="lpstr">
      <vt:lpstr>Aptos Narrow</vt:lpstr>
      <vt:lpstr>Arial</vt:lpstr>
      <vt:lpstr>Office Theme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lastModifiedBy>Dennis  Theiß</cp:lastModifiedBy>
  <cp:revision>175</cp:revision>
  <dcterms:created xsi:type="dcterms:W3CDTF">2026-07-21T11:02:44Z</dcterms:created>
  <dcterms:modified xsi:type="dcterms:W3CDTF">2026-07-23T14:25:44Z</dcterms:modified>
</cp:coreProperties>
</file>