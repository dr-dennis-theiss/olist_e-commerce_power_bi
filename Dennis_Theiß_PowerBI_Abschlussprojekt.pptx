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Aptos Narrow" panose="020B0004020202020204" pitchFamily="34" charset="0"/>
      <p:regular r:id="rId14"/>
      <p:bold r:id="rId15"/>
      <p:italic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D4D4"/>
    <a:srgbClr val="FFFFFF"/>
    <a:srgbClr val="F2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850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>
              <a:latin typeface="Aptos Narrow" panose="020B0004020202020204" pitchFamily="34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 Narrow" panose="020B0004020202020204" pitchFamily="34" charset="0"/>
              </a:rPr>
              <a:t>1</a:t>
            </a:fld>
            <a:endParaRPr lang="en-US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>
              <a:latin typeface="Aptos Narrow" panose="020B0004020202020204" pitchFamily="34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 Narrow" panose="020B0004020202020204" pitchFamily="34" charset="0"/>
              </a:rPr>
              <a:t>2</a:t>
            </a:fld>
            <a:endParaRPr lang="en-US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>
              <a:latin typeface="Aptos Narrow" panose="020B0004020202020204" pitchFamily="34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dirty="0">
              <a:solidFill>
                <a:srgbClr val="000000"/>
              </a:solidFill>
              <a:latin typeface="Aptos Narrow" panose="020B0004020202020204" pitchFamily="34" charset="0"/>
              <a:ea typeface="Source Sans 3" pitchFamily="34" charset="-122"/>
              <a:cs typeface="Source Sans 3" pitchFamily="34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 Narrow" panose="020B0004020202020204" pitchFamily="34" charset="0"/>
              </a:rPr>
              <a:t>3</a:t>
            </a:fld>
            <a:endParaRPr lang="en-US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>
              <a:latin typeface="Aptos Narrow" panose="020B0004020202020204" pitchFamily="34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 Narrow" panose="020B0004020202020204" pitchFamily="34" charset="0"/>
              </a:rPr>
              <a:t>4</a:t>
            </a:fld>
            <a:endParaRPr lang="en-US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>
              <a:latin typeface="Aptos Narrow" panose="020B0004020202020204" pitchFamily="34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 Narrow" panose="020B0004020202020204" pitchFamily="34" charset="0"/>
              </a:rPr>
              <a:t>5</a:t>
            </a:fld>
            <a:endParaRPr lang="en-US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>
              <a:latin typeface="Aptos Narrow" panose="020B0004020202020204" pitchFamily="34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 Narrow" panose="020B0004020202020204" pitchFamily="34" charset="0"/>
              </a:rPr>
              <a:t>6</a:t>
            </a:fld>
            <a:endParaRPr lang="en-US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>
              <a:latin typeface="Aptos Narrow" panose="020B0004020202020204" pitchFamily="34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 Narrow" panose="020B0004020202020204" pitchFamily="34" charset="0"/>
              </a:rPr>
              <a:t>7</a:t>
            </a:fld>
            <a:endParaRPr lang="en-US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>
              <a:latin typeface="Aptos Narrow" panose="020B0004020202020204" pitchFamily="34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 Narrow" panose="020B0004020202020204" pitchFamily="34" charset="0"/>
              </a:rPr>
              <a:t>8</a:t>
            </a:fld>
            <a:endParaRPr lang="en-US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>
              <a:latin typeface="Aptos Narrow" panose="020B0004020202020204" pitchFamily="34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 Narrow" panose="020B0004020202020204" pitchFamily="34" charset="0"/>
              </a:rPr>
              <a:t>9</a:t>
            </a:fld>
            <a:endParaRPr lang="en-US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>
              <a:latin typeface="Aptos Narrow" panose="020B0004020202020204" pitchFamily="34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 Narrow" panose="020B0004020202020204" pitchFamily="34" charset="0"/>
              </a:rPr>
              <a:t>10</a:t>
            </a:fld>
            <a:endParaRPr lang="en-US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>
              <a:latin typeface="Aptos Narrow" panose="020B0004020202020204" pitchFamily="34" charset="0"/>
            </a:endParaRP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ptos Narrow" panose="020B0004020202020204" pitchFamily="34" charset="0"/>
              </a:rPr>
              <a:t>11</a:t>
            </a:fld>
            <a:endParaRPr lang="en-US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2250" y="1182588"/>
            <a:ext cx="6469994" cy="1812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b="1" dirty="0" err="1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Analyse</a:t>
            </a:r>
            <a:r>
              <a:rPr lang="en-US" sz="38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der </a:t>
            </a:r>
            <a:r>
              <a:rPr lang="en-US" sz="3800" b="1" dirty="0" err="1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Verkäuferperformance</a:t>
            </a:r>
            <a:r>
              <a:rPr lang="en-US" sz="38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und Marketingoptimierung </a:t>
            </a:r>
            <a:r>
              <a:rPr lang="en-US" sz="3800" b="1" dirty="0" err="1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bei</a:t>
            </a:r>
            <a:r>
              <a:rPr lang="en-US" sz="38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800" b="1" dirty="0" err="1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Olist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192250" y="3438887"/>
            <a:ext cx="6180181" cy="92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Business-</a:t>
            </a:r>
            <a:r>
              <a:rPr lang="de-DE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Intelligence</a:t>
            </a: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-gestützte Analyse von Geschäftserfolg, Verkäuferleistung und Marketingdaten (2016 – 2018)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192250" y="4809250"/>
            <a:ext cx="6180181" cy="25400"/>
          </a:xfrm>
          <a:prstGeom prst="roundRect">
            <a:avLst>
              <a:gd name="adj" fmla="val 59999"/>
            </a:avLst>
          </a:prstGeom>
          <a:solidFill>
            <a:srgbClr val="3D3838">
              <a:alpha val="5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5192250" y="5117424"/>
            <a:ext cx="678976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Dennis Theiß ·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DataSmart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Point ·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Präsentation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Abschlussprojekt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Power BI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372625"/>
            <a:ext cx="10752067" cy="555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Problemstellung</a:t>
            </a:r>
            <a:r>
              <a:rPr lang="en-US" sz="345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&amp; Struktur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19913" y="1281594"/>
            <a:ext cx="10752067" cy="72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de-DE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Olist</a:t>
            </a: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ist der größte brasilianische Online-Marktplatz. Ziel ist die datenbasierte Analyse von Geschäftserfolg, Verkäuferleistung und Marketingattributen zur Unterstützung gezielter Marketing- und Vertriebsentscheidungen.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9913" y="2359026"/>
            <a:ext cx="390714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9913" y="2665612"/>
            <a:ext cx="3460267" cy="2540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19913" y="2814043"/>
            <a:ext cx="3460267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Leitfragen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65714" y="2359026"/>
            <a:ext cx="390714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5714" y="2665612"/>
            <a:ext cx="3460366" cy="2540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365714" y="2814043"/>
            <a:ext cx="3460366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Datenbasis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&amp; Analyseprozess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11614" y="2359026"/>
            <a:ext cx="390714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11614" y="2665612"/>
            <a:ext cx="3460267" cy="2540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011614" y="2814043"/>
            <a:ext cx="3460267" cy="55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EDA, </a:t>
            </a: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Datenbereinigung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&amp;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Feature Engineering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9913" y="3701158"/>
            <a:ext cx="390714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9913" y="4007744"/>
            <a:ext cx="3460267" cy="2540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19913" y="4156175"/>
            <a:ext cx="3460267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Geschäftsanalyse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65714" y="3701158"/>
            <a:ext cx="390714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65714" y="4007744"/>
            <a:ext cx="3460366" cy="2540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365714" y="4156175"/>
            <a:ext cx="3460366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Kundenanalyse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11614" y="3701158"/>
            <a:ext cx="390714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11614" y="4007744"/>
            <a:ext cx="3460267" cy="2540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8011614" y="4156175"/>
            <a:ext cx="3460267" cy="55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Verkäuferanalyse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9913" y="5043290"/>
            <a:ext cx="390714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Montserrat Light" pitchFamily="34" charset="-122"/>
                <a:cs typeface="Montserrat Light" pitchFamily="34" charset="-120"/>
              </a:rPr>
              <a:t>07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9913" y="5349876"/>
            <a:ext cx="3460267" cy="2540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719913" y="5498307"/>
            <a:ext cx="3460267" cy="55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Marketinganalyse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65714" y="5043290"/>
            <a:ext cx="390714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Montserrat Light" pitchFamily="34" charset="-122"/>
                <a:cs typeface="Montserrat Light" pitchFamily="34" charset="-120"/>
              </a:rPr>
              <a:t>08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65714" y="5349876"/>
            <a:ext cx="3460366" cy="2540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365714" y="5498307"/>
            <a:ext cx="3460366" cy="555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Seller Scoring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011614" y="5043290"/>
            <a:ext cx="390714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Montserrat Light" pitchFamily="34" charset="-122"/>
                <a:cs typeface="Montserrat Light" pitchFamily="34" charset="-120"/>
              </a:rPr>
              <a:t>09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11614" y="5349876"/>
            <a:ext cx="3460267" cy="25400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8011614" y="5498307"/>
            <a:ext cx="3460267" cy="27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Handlungsempfehlungen</a:t>
            </a:r>
            <a:endParaRPr lang="en-US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57C611E1-A536-015C-FCC6-FE45AE7B90FB}"/>
              </a:ext>
            </a:extLst>
          </p:cNvPr>
          <p:cNvSpPr txBox="1"/>
          <p:nvPr/>
        </p:nvSpPr>
        <p:spPr>
          <a:xfrm>
            <a:off x="11764652" y="6454588"/>
            <a:ext cx="490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Aptos Narrow" panose="020B0004020202020204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426938"/>
            <a:ext cx="6180181" cy="496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Leitfragen</a:t>
            </a:r>
            <a:endParaRPr lang="en-US" sz="3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1625204"/>
            <a:ext cx="6180181" cy="12100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7338" y="2066331"/>
            <a:ext cx="262229" cy="327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1586667" y="1818086"/>
            <a:ext cx="511946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Geschäftserfolg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586667" y="2155429"/>
            <a:ext cx="5119460" cy="55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Welche Faktoren bestimmen den Geschäftserfolg auf dem und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damit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zugleich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für den Olist-Marktplatz?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14" y="2983807"/>
            <a:ext cx="6180181" cy="10489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7338" y="3344367"/>
            <a:ext cx="262229" cy="327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1586667" y="3177680"/>
            <a:ext cx="511946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Verkäufermerkmale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1586667" y="3515024"/>
            <a:ext cx="5119460" cy="242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Welche Merkmale zeichnen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erfolgreiche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Verkäufer aus?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4181278"/>
            <a:ext cx="6180181" cy="12100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7338" y="4622404"/>
            <a:ext cx="262229" cy="327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1586667" y="4374142"/>
            <a:ext cx="5119460" cy="19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Marketingattribute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1586667" y="4711485"/>
            <a:ext cx="5119460" cy="542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Welche Lead- und Marketingattribute führen zu den erfolgreichsten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Verkäufern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– wie lassen sie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sich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identifizieren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?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287926" y="5520333"/>
            <a:ext cx="5437250" cy="484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endParaRPr lang="en-US" sz="16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6A2022E-99F2-6166-8467-C1D9B2DA45AE}"/>
              </a:ext>
            </a:extLst>
          </p:cNvPr>
          <p:cNvSpPr txBox="1"/>
          <p:nvPr/>
        </p:nvSpPr>
        <p:spPr>
          <a:xfrm>
            <a:off x="11764652" y="6454588"/>
            <a:ext cx="490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Aptos Narrow" panose="020B0004020202020204" pitchFamily="34" charset="0"/>
              </a:rPr>
              <a:t>2</a:t>
            </a:r>
            <a:endParaRPr lang="de-DE" dirty="0">
              <a:latin typeface="Aptos Narrow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349426"/>
            <a:ext cx="6180181" cy="116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 err="1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Datenbasis</a:t>
            </a:r>
            <a:r>
              <a:rPr lang="en-US" sz="365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&amp; Analyseprozess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719814" y="2225179"/>
            <a:ext cx="678976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19814" y="1372123"/>
            <a:ext cx="618018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Datenbasis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19813" y="1738186"/>
            <a:ext cx="6180181" cy="2112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Zentrale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Quelldatei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olist_data.xlsx</a:t>
            </a:r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Primäre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/interne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Daten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(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anonymisiert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)</a:t>
            </a:r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Vier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Tabellen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customers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orders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products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sellers</a:t>
            </a:r>
            <a:endParaRPr lang="en-US" b="1" dirty="0">
              <a:latin typeface="Aptos Narrow" panose="020B0004020202020204" pitchFamily="34" charset="0"/>
            </a:endParaRPr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Datenzeitraum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: September 2016 – Oktober 2018</a:t>
            </a:r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Beispiel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orders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: 30 Attribute, 112.096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Datensätze</a:t>
            </a:r>
            <a:endParaRPr lang="en-US" dirty="0">
              <a:solidFill>
                <a:srgbClr val="3D3838"/>
              </a:solidFill>
              <a:latin typeface="Aptos Narrow" panose="020B0004020202020204" pitchFamily="34" charset="0"/>
              <a:ea typeface="Source Sans 3" pitchFamily="34" charset="-122"/>
              <a:cs typeface="Source Sans 3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9814" y="3924862"/>
            <a:ext cx="618018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Iterativer Analyseprozess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19814" y="4290925"/>
            <a:ext cx="6335410" cy="2112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Exploration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– </a:t>
            </a: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Bereinigung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– </a:t>
            </a: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Analyse</a:t>
            </a:r>
            <a:endParaRPr lang="en-US" b="1" dirty="0">
              <a:latin typeface="Aptos Narrow" panose="020B0004020202020204" pitchFamily="34" charset="0"/>
            </a:endParaRPr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Exploration lieferte die Grundlage für Bereinigungsentscheidungen</a:t>
            </a:r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Analyseergebnisse machten vereinzelt weitere Bereinigungen erforderlich</a:t>
            </a:r>
            <a:endParaRPr lang="en-US" dirty="0">
              <a:solidFill>
                <a:srgbClr val="3D3838"/>
              </a:solidFill>
              <a:latin typeface="Aptos Narrow" panose="020B0004020202020204" pitchFamily="34" charset="0"/>
              <a:ea typeface="Source Sans 3" pitchFamily="34" charset="-122"/>
              <a:cs typeface="Source Sans 3" pitchFamily="34" charset="-120"/>
            </a:endParaRPr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</a:rPr>
              <a:t>Ziel: </a:t>
            </a: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</a:rPr>
              <a:t>Schrittweise Verbesserung der Aussagekraft der Daten bzw. der Analyse</a:t>
            </a:r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D4C3B1F-7257-5B89-3B32-0A535C0757EB}"/>
              </a:ext>
            </a:extLst>
          </p:cNvPr>
          <p:cNvSpPr txBox="1"/>
          <p:nvPr/>
        </p:nvSpPr>
        <p:spPr>
          <a:xfrm>
            <a:off x="11773617" y="6454588"/>
            <a:ext cx="490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Aptos Narrow" panose="020B000402020202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3095623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0" y="337940"/>
            <a:ext cx="8562975" cy="817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EDA, </a:t>
            </a:r>
            <a:r>
              <a:rPr lang="en-US" sz="3600" b="1" dirty="0" err="1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Datenbereinigung</a:t>
            </a:r>
            <a:r>
              <a:rPr lang="en-US" sz="36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&amp; Feature Engineering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431149" y="1336775"/>
            <a:ext cx="4360301" cy="197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Exploration: </a:t>
            </a:r>
            <a:r>
              <a:rPr lang="en-US" sz="1600" b="1" dirty="0" err="1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Identifizierte</a:t>
            </a:r>
            <a:r>
              <a:rPr lang="en-US" sz="16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Datenqualitätsprobleme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31150" y="1693325"/>
            <a:ext cx="5880938" cy="1206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6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Hoher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Anteil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fehlender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Marketinginformationen</a:t>
            </a:r>
            <a:endParaRPr lang="en-US" sz="1600" dirty="0">
              <a:solidFill>
                <a:srgbClr val="3D3838"/>
              </a:solidFill>
              <a:latin typeface="Aptos Narrow" panose="020B0004020202020204" pitchFamily="34" charset="0"/>
              <a:ea typeface="Source Sans 3" pitchFamily="34" charset="-122"/>
              <a:cs typeface="Source Sans 3" pitchFamily="34" charset="-120"/>
            </a:endParaRPr>
          </a:p>
          <a:p>
            <a:pPr marL="223520" indent="-223520" algn="l">
              <a:lnSpc>
                <a:spcPct val="106000"/>
              </a:lnSpc>
              <a:buSzPct val="100000"/>
              <a:buChar char="•"/>
            </a:pP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Fehlerhafte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Datensätze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&amp;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Inkonsistenzen</a:t>
            </a:r>
            <a:endParaRPr lang="en-US" sz="1600" dirty="0">
              <a:solidFill>
                <a:srgbClr val="3D3838"/>
              </a:solidFill>
              <a:latin typeface="Aptos Narrow" panose="020B0004020202020204" pitchFamily="34" charset="0"/>
              <a:ea typeface="Source Sans 3" pitchFamily="34" charset="-122"/>
              <a:cs typeface="Source Sans 3" pitchFamily="34" charset="-120"/>
            </a:endParaRPr>
          </a:p>
          <a:p>
            <a:pPr marL="223520" indent="-223520" algn="l">
              <a:lnSpc>
                <a:spcPct val="106000"/>
              </a:lnSpc>
              <a:buSzPct val="100000"/>
              <a:buChar char="•"/>
            </a:pP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Fehlende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Produkt-, Liefer- &amp;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Bewertungsdaten</a:t>
            </a:r>
            <a:endParaRPr lang="en-US" sz="1600" dirty="0">
              <a:latin typeface="Aptos Narrow" panose="020B0004020202020204" pitchFamily="34" charset="0"/>
            </a:endParaRPr>
          </a:p>
          <a:p>
            <a:pPr marL="223520" indent="-223520" algn="l">
              <a:lnSpc>
                <a:spcPct val="106000"/>
              </a:lnSpc>
              <a:buSzPct val="100000"/>
              <a:buChar char="•"/>
            </a:pP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Mehrfachkategorien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bei Behaviour Profiles</a:t>
            </a:r>
            <a:endParaRPr lang="en-US" sz="1600" dirty="0">
              <a:latin typeface="Aptos Narrow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429000" y="3124249"/>
            <a:ext cx="291447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Datenbereinigung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31150" y="3490565"/>
            <a:ext cx="3293500" cy="210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6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Duplikatprüfung &amp; Entfernung irrelevanter Spalten</a:t>
            </a:r>
            <a:endParaRPr lang="en-US" sz="1600" dirty="0">
              <a:latin typeface="Aptos Narrow" panose="020B0004020202020204" pitchFamily="34" charset="0"/>
            </a:endParaRPr>
          </a:p>
          <a:p>
            <a:pPr marL="223520" indent="-223520" algn="l">
              <a:lnSpc>
                <a:spcPct val="106000"/>
              </a:lnSpc>
              <a:buSzPct val="100000"/>
              <a:buChar char="•"/>
            </a:pP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Behandlung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von NULL-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Werten</a:t>
            </a:r>
            <a:endParaRPr lang="en-US" sz="1600" dirty="0">
              <a:latin typeface="Aptos Narrow" panose="020B0004020202020204" pitchFamily="34" charset="0"/>
            </a:endParaRPr>
          </a:p>
          <a:p>
            <a:pPr marL="223520" indent="-223520" algn="l">
              <a:lnSpc>
                <a:spcPct val="106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Fehlende Marketingattribute → „no contact" / „unspecified"</a:t>
            </a:r>
            <a:endParaRPr lang="en-US" sz="1600" dirty="0">
              <a:latin typeface="Aptos Narrow" panose="020B0004020202020204" pitchFamily="34" charset="0"/>
            </a:endParaRPr>
          </a:p>
          <a:p>
            <a:pPr marL="223520" indent="-223520" algn="l">
              <a:lnSpc>
                <a:spcPct val="106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Fehlerhafte Datensätze korrigiert &amp; dokumentiert</a:t>
            </a:r>
            <a:endParaRPr lang="en-US" sz="1600" dirty="0">
              <a:latin typeface="Aptos Narrow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43641" y="3124249"/>
            <a:ext cx="2914478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43640" y="3490565"/>
            <a:ext cx="3386309" cy="1536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Star-Schema-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Datenmodell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aufgebaut</a:t>
            </a:r>
            <a:endParaRPr lang="en-US" sz="1600" dirty="0">
              <a:solidFill>
                <a:srgbClr val="3D3838"/>
              </a:solidFill>
              <a:latin typeface="Aptos Narrow" panose="020B0004020202020204" pitchFamily="34" charset="0"/>
              <a:ea typeface="Source Sans 3" pitchFamily="34" charset="-122"/>
              <a:cs typeface="Source Sans 3" pitchFamily="34" charset="-120"/>
            </a:endParaRPr>
          </a:p>
          <a:p>
            <a:pPr marL="223520" indent="-223520" algn="l">
              <a:buSzPct val="100000"/>
              <a:buChar char="•"/>
            </a:pP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Zentrale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Datumstabelle erstellt</a:t>
            </a:r>
            <a:endParaRPr lang="en-US" sz="1600" dirty="0">
              <a:latin typeface="Aptos Narrow" panose="020B0004020202020204" pitchFamily="34" charset="0"/>
            </a:endParaRPr>
          </a:p>
          <a:p>
            <a:pPr marL="223520" indent="-223520" algn="l">
              <a:buSzPct val="100000"/>
              <a:buChar char="•"/>
            </a:pP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Erforderliche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Analyse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-Measures und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berechnete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Spalten</a:t>
            </a: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entwickelt</a:t>
            </a:r>
            <a:endParaRPr lang="en-US" sz="1600" dirty="0">
              <a:latin typeface="Aptos Narrow" panose="020B0004020202020204" pitchFamily="34" charset="0"/>
            </a:endParaRPr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Beispiele: Delivery Days, On Time Rate, Days to Close, Seller Score</a:t>
            </a:r>
            <a:endParaRPr lang="en-US" sz="1600" dirty="0">
              <a:latin typeface="Aptos Narrow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40047" y="5521225"/>
            <a:ext cx="6180181" cy="898035"/>
          </a:xfrm>
          <a:prstGeom prst="roundRect">
            <a:avLst>
              <a:gd name="adj" fmla="val 3426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010" y="5902941"/>
            <a:ext cx="179879" cy="143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7851" y="5702101"/>
            <a:ext cx="5568414" cy="1091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Durch gezielte Bereinigung und Feature Engineering wurde eine belastbare </a:t>
            </a:r>
            <a:r>
              <a:rPr lang="en-US" sz="1600" dirty="0" err="1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Analysegrundlage</a:t>
            </a:r>
            <a:r>
              <a:rPr lang="en-US" sz="1600" dirty="0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geschaffen</a:t>
            </a:r>
            <a:endParaRPr lang="en-US" sz="16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565BD8D-CD71-FD1E-504F-7151410ADA9A}"/>
              </a:ext>
            </a:extLst>
          </p:cNvPr>
          <p:cNvSpPr txBox="1"/>
          <p:nvPr/>
        </p:nvSpPr>
        <p:spPr>
          <a:xfrm>
            <a:off x="11764652" y="6454588"/>
            <a:ext cx="490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Aptos Narrow" panose="020B00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6164" y="391418"/>
            <a:ext cx="10752067" cy="555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 err="1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Geschäftsanalyse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719814" y="2226270"/>
            <a:ext cx="5137716" cy="5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9814" y="1378638"/>
            <a:ext cx="5524155" cy="3187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04800" indent="-304800" algn="l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KPIs: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Revenue: 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13,5 Mio. R$,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Total Orders: 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98.177,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Customers: 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95.828,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Sellers: 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3.088,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Products: 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32.951</a:t>
            </a:r>
          </a:p>
          <a:p>
            <a:pPr marL="304800" indent="-304800" algn="l">
              <a:lnSpc>
                <a:spcPct val="120000"/>
              </a:lnSpc>
              <a:buSzPct val="100000"/>
              <a:buChar char="•"/>
            </a:pP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Olist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befindet sich im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betrachteten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Zeitraum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2016 – 2018 in einer klaren 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Wachstumsphase</a:t>
            </a:r>
            <a:endParaRPr lang="en-US" dirty="0">
              <a:latin typeface="Aptos Narrow" panose="020B0004020202020204" pitchFamily="34" charset="0"/>
            </a:endParaRPr>
          </a:p>
          <a:p>
            <a:pPr marL="304800" indent="-304800" algn="l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2017 steigt der Umsatz über alle Quartale –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Q4 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ist die stärkste Phase</a:t>
            </a:r>
            <a:endParaRPr lang="en-US" dirty="0">
              <a:latin typeface="Aptos Narrow" panose="020B0004020202020204" pitchFamily="34" charset="0"/>
            </a:endParaRPr>
          </a:p>
          <a:p>
            <a:pPr marL="304800" indent="-304800" algn="l">
              <a:lnSpc>
                <a:spcPct val="120000"/>
              </a:lnSpc>
              <a:buSzPct val="100000"/>
              <a:buChar char="•"/>
            </a:pP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Wichtigste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Produktkategorien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Health &amp; Beauty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, </a:t>
            </a:r>
            <a:b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</a:b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Watches &amp; Gifts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,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Bed &amp; Bath Table</a:t>
            </a:r>
            <a:endParaRPr lang="en-US" b="1" dirty="0">
              <a:latin typeface="Aptos Narrow" panose="020B0004020202020204" pitchFamily="34" charset="0"/>
            </a:endParaRPr>
          </a:p>
          <a:p>
            <a:pPr marL="304800" indent="-304800" algn="l">
              <a:lnSpc>
                <a:spcPct val="120000"/>
              </a:lnSpc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Umsatzkonzentration auf wirtschaftlich starke 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Kernregionen Brasiliens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19814" y="4647244"/>
            <a:ext cx="5137716" cy="900000"/>
          </a:xfrm>
          <a:prstGeom prst="roundRect">
            <a:avLst>
              <a:gd name="adj" fmla="val 2923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16" y="4999563"/>
            <a:ext cx="244171" cy="19536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60744" y="4762985"/>
            <a:ext cx="4307474" cy="969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Geschäftserfolg</a:t>
            </a:r>
            <a:r>
              <a:rPr lang="en-US" dirty="0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basiert auf starkem Wachstum und </a:t>
            </a:r>
            <a:r>
              <a:rPr lang="en-US" dirty="0" err="1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einigen</a:t>
            </a:r>
            <a:r>
              <a:rPr lang="en-US" dirty="0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Schlüsselsegmenten</a:t>
            </a:r>
            <a:endParaRPr lang="en-US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49D19DE-601A-438D-EF67-615CA39DFD70}"/>
              </a:ext>
            </a:extLst>
          </p:cNvPr>
          <p:cNvSpPr txBox="1"/>
          <p:nvPr/>
        </p:nvSpPr>
        <p:spPr>
          <a:xfrm>
            <a:off x="11764652" y="6454588"/>
            <a:ext cx="490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Aptos Narrow" panose="020B0004020202020204" pitchFamily="34" charset="0"/>
              </a:rPr>
              <a:t>5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F4C5016-16BA-87F0-5920-0AB12C07C8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13976" y="1378638"/>
            <a:ext cx="4500000" cy="1980309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96CD99F6-B53A-0298-277F-DE02173F82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976" y="3664795"/>
            <a:ext cx="4500000" cy="19648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6164" y="376457"/>
            <a:ext cx="10752067" cy="555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 err="1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Kundenanalyse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6096000" y="1528165"/>
            <a:ext cx="5219700" cy="319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2000"/>
              </a:lnSpc>
              <a:buSzPct val="100000"/>
              <a:buChar char="•"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São Paulo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ist der mit Abstand wichtigste Kundenmarkt</a:t>
            </a:r>
            <a:endParaRPr lang="en-US" dirty="0">
              <a:latin typeface="Aptos Narrow" panose="020B0004020202020204" pitchFamily="34" charset="0"/>
            </a:endParaRPr>
          </a:p>
          <a:p>
            <a:pPr marL="304800" indent="-304800" algn="l">
              <a:lnSpc>
                <a:spcPct val="122000"/>
              </a:lnSpc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Rio de Janeiro &amp; Minas Gerais leisten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bedeutende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Beiträge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zum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Gesamtumsatz</a:t>
            </a:r>
            <a:endParaRPr lang="en-US" dirty="0">
              <a:latin typeface="Aptos Narrow" panose="020B0004020202020204" pitchFamily="34" charset="0"/>
            </a:endParaRPr>
          </a:p>
          <a:p>
            <a:pPr marL="304800" indent="-304800" algn="l">
              <a:lnSpc>
                <a:spcPct val="122000"/>
              </a:lnSpc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Hohe Kundenzufriedenheit entsteht 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nicht zwangsläufig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in umsatzstarken Kategorien</a:t>
            </a:r>
            <a:endParaRPr lang="en-US" dirty="0">
              <a:latin typeface="Aptos Narrow" panose="020B0004020202020204" pitchFamily="34" charset="0"/>
            </a:endParaRPr>
          </a:p>
          <a:p>
            <a:pPr marL="304800" indent="-304800" algn="l">
              <a:lnSpc>
                <a:spcPct val="122000"/>
              </a:lnSpc>
              <a:buSzPct val="100000"/>
              <a:buChar char="•"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Umsatzgröße entsteht vor allem durch viele Bestellungen und weniger durch besonders hohe Einzelbestellwerte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0" y="4475929"/>
            <a:ext cx="5219700" cy="1288552"/>
          </a:xfrm>
          <a:prstGeom prst="roundRect">
            <a:avLst>
              <a:gd name="adj" fmla="val 2275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357" y="4991099"/>
            <a:ext cx="244171" cy="19536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30885" y="4583572"/>
            <a:ext cx="4307474" cy="12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de-DE" dirty="0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Nachfrage, Bestellwerte und Kundenzufrieden-</a:t>
            </a:r>
            <a:r>
              <a:rPr lang="de-DE" dirty="0" err="1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heit</a:t>
            </a:r>
            <a:r>
              <a:rPr lang="de-DE" dirty="0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entwickeln sich nicht zwangsläufig gemeinsam</a:t>
            </a:r>
            <a:endParaRPr lang="en-US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8F0B15F-3777-D6B0-3DF4-94FB224BF8CF}"/>
              </a:ext>
            </a:extLst>
          </p:cNvPr>
          <p:cNvSpPr txBox="1"/>
          <p:nvPr/>
        </p:nvSpPr>
        <p:spPr>
          <a:xfrm>
            <a:off x="11764652" y="6454588"/>
            <a:ext cx="490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Aptos Narrow" panose="020B0004020202020204" pitchFamily="34" charset="0"/>
              </a:rPr>
              <a:t>6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5E1CB7D-21EF-681A-7D69-EC68AD36A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64" y="1528166"/>
            <a:ext cx="4500000" cy="1963918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E9153FA1-F2D0-73D1-FDCD-669097016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64" y="3800563"/>
            <a:ext cx="4500000" cy="19639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410667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 err="1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Verkäuferanalyse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713769" y="1473578"/>
            <a:ext cx="5169532" cy="3004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Umsatzstärkste Verkäufer erzielen ein Vielfaches des durchschnittlichen Verkäuferumsatzes</a:t>
            </a:r>
            <a:endParaRPr lang="en-US" dirty="0">
              <a:solidFill>
                <a:srgbClr val="3D3838"/>
              </a:solidFill>
              <a:latin typeface="Aptos Narrow" panose="020B0004020202020204" pitchFamily="34" charset="0"/>
              <a:ea typeface="Source Sans 3" pitchFamily="34" charset="-122"/>
              <a:cs typeface="Source Sans 3" pitchFamily="34" charset="-120"/>
            </a:endParaRPr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Hohe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Verkäuferumsätze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treten auf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unterschiedlichen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 Bewertungsniveaus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auf </a:t>
            </a:r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Top-Seller nach Bestellvolumen weisen ausgeglichenere Bewertungsniveaus auf</a:t>
            </a:r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Hohe Umsätze gehen nicht zwangsläufig mit schlechter Lieferperformance einher</a:t>
            </a:r>
          </a:p>
        </p:txBody>
      </p:sp>
      <p:sp>
        <p:nvSpPr>
          <p:cNvPr id="5" name="Shape 3"/>
          <p:cNvSpPr/>
          <p:nvPr/>
        </p:nvSpPr>
        <p:spPr>
          <a:xfrm>
            <a:off x="713769" y="4477730"/>
            <a:ext cx="5125116" cy="1283762"/>
          </a:xfrm>
          <a:prstGeom prst="roundRect">
            <a:avLst>
              <a:gd name="adj" fmla="val 2206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382189" y="4587069"/>
            <a:ext cx="4251020" cy="1692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de-DE" dirty="0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Erfolgreiche Verkäufer zeichnen sich nicht nur durch hohe Umsätze, sondern auch durch weitere stabile Qualitätskennzahlen aus</a:t>
            </a:r>
            <a:endParaRPr lang="en-US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72CE86F-A64B-B30F-507B-86AFFC113C0F}"/>
              </a:ext>
            </a:extLst>
          </p:cNvPr>
          <p:cNvSpPr txBox="1"/>
          <p:nvPr/>
        </p:nvSpPr>
        <p:spPr>
          <a:xfrm>
            <a:off x="11764652" y="6454588"/>
            <a:ext cx="490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Aptos Narrow" panose="020B0004020202020204" pitchFamily="34" charset="0"/>
              </a:rPr>
              <a:t>7</a:t>
            </a:r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A8556CC9-2538-5F15-D985-12AE874BE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94" y="4981513"/>
            <a:ext cx="244171" cy="19536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43A4BA3-7C5F-F368-D78C-265FD7914B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12"/>
          <a:stretch>
            <a:fillRect/>
          </a:stretch>
        </p:blipFill>
        <p:spPr>
          <a:xfrm>
            <a:off x="6437116" y="1473578"/>
            <a:ext cx="4500000" cy="1947156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70929058-A8C2-9B18-6005-BC3A07E3BC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116" y="3786449"/>
            <a:ext cx="4500000" cy="19750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391418"/>
            <a:ext cx="10752067" cy="555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 err="1">
                <a:solidFill>
                  <a:srgbClr val="000000"/>
                </a:solidFill>
                <a:latin typeface="Aptos Narrow" panose="020B0004020202020204" pitchFamily="34" charset="0"/>
              </a:rPr>
              <a:t>Marketinganalyse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6095847" y="1457785"/>
            <a:ext cx="5137716" cy="3544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2000"/>
              </a:lnSpc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Marketingdaten liegen nur für einen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kleinen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 Teil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der Verkäufer vor – 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„no contact"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dominiert</a:t>
            </a:r>
            <a:endParaRPr lang="en-US" dirty="0">
              <a:solidFill>
                <a:srgbClr val="3D3838"/>
              </a:solidFill>
              <a:latin typeface="Aptos Narrow" panose="020B0004020202020204" pitchFamily="34" charset="0"/>
              <a:ea typeface="Source Sans 3" pitchFamily="34" charset="-122"/>
              <a:cs typeface="Source Sans 3" pitchFamily="34" charset="-120"/>
            </a:endParaRPr>
          </a:p>
          <a:p>
            <a:pPr marL="304800" indent="-304800">
              <a:lnSpc>
                <a:spcPct val="122000"/>
              </a:lnSpc>
              <a:buSzPct val="100000"/>
              <a:buFontTx/>
              <a:buChar char="•"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Unter den dokumentierten Lead </a:t>
            </a:r>
            <a:r>
              <a:rPr lang="de-DE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Types</a:t>
            </a: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weist </a:t>
            </a:r>
            <a:r>
              <a:rPr lang="de-DE" b="1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Online_Big</a:t>
            </a: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den höchsten aggregierten Umsatz auf</a:t>
            </a:r>
          </a:p>
          <a:p>
            <a:pPr marL="304800" indent="-304800">
              <a:lnSpc>
                <a:spcPct val="122000"/>
              </a:lnSpc>
              <a:buSzPct val="100000"/>
              <a:buFontTx/>
              <a:buChar char="•"/>
            </a:pP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Behaviour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Profiles unterscheiden sich 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deutlich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in der Dauer bis zum Vertragsabschluss</a:t>
            </a:r>
            <a:endParaRPr lang="en-US" dirty="0">
              <a:latin typeface="Aptos Narrow" panose="020B0004020202020204" pitchFamily="34" charset="0"/>
            </a:endParaRPr>
          </a:p>
          <a:p>
            <a:pPr marL="304800" indent="-304800" algn="l">
              <a:lnSpc>
                <a:spcPct val="122000"/>
              </a:lnSpc>
              <a:buSzPct val="100000"/>
              <a:buChar char="•"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 Bold" pitchFamily="34" charset="-122"/>
                <a:cs typeface="Source Sans 3 Bold" pitchFamily="34" charset="-120"/>
              </a:rPr>
              <a:t>Reseller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übertreffen Manufacturer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deutlich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bei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Average Revenue per Seller</a:t>
            </a:r>
          </a:p>
          <a:p>
            <a:pPr marL="304800" indent="-304800" algn="l">
              <a:lnSpc>
                <a:spcPct val="122000"/>
              </a:lnSpc>
              <a:buSzPct val="100000"/>
              <a:buChar char="•"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Business Segment </a:t>
            </a:r>
            <a:r>
              <a:rPr lang="de-DE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Watches</a:t>
            </a: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erzielt mit Abstand den höchsten Average Revenue per Seller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(39,02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Tsd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. R$)</a:t>
            </a:r>
          </a:p>
          <a:p>
            <a:pPr marL="304800" indent="-304800" algn="l">
              <a:lnSpc>
                <a:spcPct val="122000"/>
              </a:lnSpc>
              <a:buSzPct val="100000"/>
              <a:buChar char="•"/>
            </a:pP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5847" y="5002616"/>
            <a:ext cx="5137716" cy="900000"/>
          </a:xfrm>
          <a:prstGeom prst="roundRect">
            <a:avLst>
              <a:gd name="adj" fmla="val 2923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de-DE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204" y="5354935"/>
            <a:ext cx="244171" cy="19536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30732" y="5148273"/>
            <a:ext cx="4307474" cy="119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dirty="0" err="1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Aufgrund</a:t>
            </a:r>
            <a:r>
              <a:rPr lang="en-US" dirty="0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erheblicher</a:t>
            </a:r>
            <a:r>
              <a:rPr lang="en-US" dirty="0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Datenlücken sind die Erkenntnisse mit Vorsicht </a:t>
            </a:r>
            <a:r>
              <a:rPr lang="en-US" dirty="0" err="1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zu</a:t>
            </a:r>
            <a:r>
              <a:rPr lang="en-US" dirty="0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interpretieren</a:t>
            </a:r>
            <a:endParaRPr lang="en-US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E8A5041-0312-4F5D-D026-602D7781A081}"/>
              </a:ext>
            </a:extLst>
          </p:cNvPr>
          <p:cNvSpPr txBox="1"/>
          <p:nvPr/>
        </p:nvSpPr>
        <p:spPr>
          <a:xfrm>
            <a:off x="11764652" y="6454588"/>
            <a:ext cx="490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Aptos Narrow" panose="020B0004020202020204" pitchFamily="34" charset="0"/>
              </a:rPr>
              <a:t>8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1C41401C-B335-ED92-D421-4CADF130FC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3769" y="3594759"/>
            <a:ext cx="4500000" cy="194178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DEC8D638-BF33-5A2C-F6BB-487155A6AE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769" y="1457786"/>
            <a:ext cx="4500000" cy="19716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387257"/>
            <a:ext cx="10752067" cy="525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Seller Scoring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179089" y="1178017"/>
            <a:ext cx="5150217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Seller Score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79089" y="1570209"/>
            <a:ext cx="5668652" cy="1510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9000"/>
              </a:lnSpc>
              <a:buSzPct val="100000"/>
              <a:buChar char="•"/>
            </a:pP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Score kombiniert vier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Erfolgsdimensionen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zu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einer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ganzheitlichen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Bewertung</a:t>
            </a:r>
            <a:r>
              <a:rPr lang="en-US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 der </a:t>
            </a:r>
            <a:r>
              <a:rPr lang="en-US" dirty="0" err="1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Verkäuferleistung</a:t>
            </a:r>
            <a:endParaRPr lang="en-US" dirty="0">
              <a:solidFill>
                <a:srgbClr val="3D3838"/>
              </a:solidFill>
              <a:latin typeface="Aptos Narrow" panose="020B0004020202020204" pitchFamily="34" charset="0"/>
              <a:ea typeface="Source Sans 3" pitchFamily="34" charset="-122"/>
              <a:cs typeface="Source Sans 3" pitchFamily="34" charset="-120"/>
            </a:endParaRPr>
          </a:p>
          <a:p>
            <a:pPr marL="294640" indent="-294640" algn="l">
              <a:lnSpc>
                <a:spcPct val="119000"/>
              </a:lnSpc>
              <a:buSzPct val="100000"/>
              <a:buChar char="•"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Bester Verkäufer erreicht 88,60 von maximal 100 Points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79242" y="2980229"/>
            <a:ext cx="5150217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 err="1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Mehrwert</a:t>
            </a:r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des Scores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79242" y="3369803"/>
            <a:ext cx="5668652" cy="2446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9000"/>
              </a:lnSpc>
              <a:buSzPct val="100000"/>
              <a:buChar char="•"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Objektive Bewertung der Verkäuferleistung</a:t>
            </a:r>
          </a:p>
          <a:p>
            <a:pPr marL="294640" indent="-294640" algn="l">
              <a:lnSpc>
                <a:spcPct val="119000"/>
              </a:lnSpc>
              <a:buSzPct val="100000"/>
              <a:buChar char="•"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Vergleichbarkeit über mehrere Erfolgsdimensionen</a:t>
            </a:r>
          </a:p>
          <a:p>
            <a:pPr marL="294640" indent="-294640" algn="l">
              <a:lnSpc>
                <a:spcPct val="119000"/>
              </a:lnSpc>
              <a:buSzPct val="100000"/>
              <a:buChar char="•"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Marketing- und Lead-Attribute können anhand der Verkäuferqualität bewertet werden</a:t>
            </a:r>
          </a:p>
          <a:p>
            <a:pPr marL="294640" indent="-294640" algn="l">
              <a:lnSpc>
                <a:spcPct val="119000"/>
              </a:lnSpc>
              <a:buSzPct val="100000"/>
              <a:buChar char="•"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Datenbasierte Grundlage zur Identifikation hochwertiger Verkäufer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20119" y="5716159"/>
            <a:ext cx="2563054" cy="720000"/>
          </a:xfrm>
          <a:prstGeom prst="roundRect">
            <a:avLst>
              <a:gd name="adj" fmla="val 3099"/>
            </a:avLst>
          </a:prstGeom>
          <a:solidFill>
            <a:srgbClr val="F2EEEE"/>
          </a:solidFill>
          <a:ln>
            <a:solidFill>
              <a:srgbClr val="D8D4D4"/>
            </a:solidFill>
          </a:ln>
        </p:spPr>
        <p:txBody>
          <a:bodyPr/>
          <a:lstStyle/>
          <a:p>
            <a:endParaRPr lang="de-DE" dirty="0"/>
          </a:p>
        </p:txBody>
      </p:sp>
      <p:sp>
        <p:nvSpPr>
          <p:cNvPr id="13" name="Text 11"/>
          <p:cNvSpPr/>
          <p:nvPr/>
        </p:nvSpPr>
        <p:spPr>
          <a:xfrm>
            <a:off x="905157" y="5951665"/>
            <a:ext cx="2192977" cy="296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Revenue (max. 40 pts)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49529" y="5716159"/>
            <a:ext cx="2563054" cy="720000"/>
          </a:xfrm>
          <a:prstGeom prst="roundRect">
            <a:avLst>
              <a:gd name="adj" fmla="val 3099"/>
            </a:avLst>
          </a:prstGeom>
          <a:solidFill>
            <a:srgbClr val="F2EEEE"/>
          </a:solidFill>
          <a:ln>
            <a:solidFill>
              <a:srgbClr val="D8D4D4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634567" y="5955543"/>
            <a:ext cx="2192977" cy="29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Orders (max. 25 pts)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9090" y="5716159"/>
            <a:ext cx="2563054" cy="720000"/>
          </a:xfrm>
          <a:prstGeom prst="roundRect">
            <a:avLst>
              <a:gd name="adj" fmla="val 3099"/>
            </a:avLst>
          </a:prstGeom>
          <a:solidFill>
            <a:srgbClr val="F2EEEE"/>
          </a:solidFill>
          <a:ln>
            <a:solidFill>
              <a:srgbClr val="D8D4D4"/>
            </a:solidFill>
          </a:ln>
        </p:spPr>
        <p:txBody>
          <a:bodyPr/>
          <a:lstStyle/>
          <a:p>
            <a:endParaRPr lang="de-DE" dirty="0"/>
          </a:p>
        </p:txBody>
      </p:sp>
      <p:sp>
        <p:nvSpPr>
          <p:cNvPr id="17" name="Text 15"/>
          <p:cNvSpPr/>
          <p:nvPr/>
        </p:nvSpPr>
        <p:spPr>
          <a:xfrm>
            <a:off x="6197621" y="5951665"/>
            <a:ext cx="2526068" cy="296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Delivery (max. 20 pts)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08728" y="5716159"/>
            <a:ext cx="2563153" cy="720000"/>
          </a:xfrm>
          <a:prstGeom prst="roundRect">
            <a:avLst>
              <a:gd name="adj" fmla="val 3099"/>
            </a:avLst>
          </a:prstGeom>
          <a:solidFill>
            <a:srgbClr val="F2EEEE"/>
          </a:solidFill>
          <a:ln>
            <a:solidFill>
              <a:srgbClr val="D8D4D4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8908727" y="5945409"/>
            <a:ext cx="2563153" cy="301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Review (max. 15 pts)</a:t>
            </a:r>
            <a:endParaRPr lang="en-US" sz="160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13AE4AD-C40A-AEE9-91EA-B102F3123B19}"/>
              </a:ext>
            </a:extLst>
          </p:cNvPr>
          <p:cNvSpPr txBox="1"/>
          <p:nvPr/>
        </p:nvSpPr>
        <p:spPr>
          <a:xfrm>
            <a:off x="11764652" y="6454588"/>
            <a:ext cx="490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Aptos Narrow" panose="020B0004020202020204" pitchFamily="34" charset="0"/>
              </a:rPr>
              <a:t>9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6907CCB9-0AF0-A467-4C7B-7EE8926DCE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0119" y="1173197"/>
            <a:ext cx="4500000" cy="1959552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B0F0D457-271A-910D-5653-760DE4ADB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119" y="3366261"/>
            <a:ext cx="4500000" cy="19561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3" y="470939"/>
            <a:ext cx="10752067" cy="43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Handlungsempfehlungen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9812" y="1313331"/>
            <a:ext cx="10752067" cy="1068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de-DE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Olist kann Marketing- und Vertriebsmaßnahmen gezielter ausrichten, indem erfolgreiche Marktsegmente, Verkäufermerkmale und Marketingdaten systematisch analysiert und genutzt werden.</a:t>
            </a:r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3541233"/>
            <a:ext cx="10780601" cy="1260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1641" y="4011155"/>
            <a:ext cx="231372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471728" y="3792080"/>
            <a:ext cx="982707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Erfolgreiche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Verkäufer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gezielt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priorisieren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471728" y="4161535"/>
            <a:ext cx="9827074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de-DE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Verkäuferleistung durch Seller Score ganzheitlich bewerten und besonders erfolgreiche Verkäufer priorisieren.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965" y="4908299"/>
            <a:ext cx="10780610" cy="1260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0097" y="5360827"/>
            <a:ext cx="231372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471728" y="5065499"/>
            <a:ext cx="982707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Marketingdaten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systematisch</a:t>
            </a: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b="1" dirty="0" err="1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erfassen</a:t>
            </a:r>
            <a:endParaRPr lang="en-US" dirty="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726E9049-E259-0249-01CB-006D5AFDA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974" y="2174167"/>
            <a:ext cx="10780601" cy="1260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71728" y="5447644"/>
            <a:ext cx="9827074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de-DE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Marketinginformationen standardisieren und erfassen, um erfolgreiche Lead Sources zukünftig belastbar identifizieren, </a:t>
            </a:r>
          </a:p>
          <a:p>
            <a:pPr marL="0" indent="0" algn="l">
              <a:lnSpc>
                <a:spcPct val="109000"/>
              </a:lnSpc>
              <a:buNone/>
            </a:pPr>
            <a:r>
              <a:rPr lang="de-DE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bewerten und nutzen zu können.</a:t>
            </a:r>
            <a:endParaRPr lang="en-US" sz="16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621CCA0-2B6D-FD10-822F-1B131C395F0E}"/>
              </a:ext>
            </a:extLst>
          </p:cNvPr>
          <p:cNvSpPr txBox="1"/>
          <p:nvPr/>
        </p:nvSpPr>
        <p:spPr>
          <a:xfrm>
            <a:off x="11764652" y="6454588"/>
            <a:ext cx="490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Aptos Narrow" panose="020B0004020202020204" pitchFamily="34" charset="0"/>
              </a:rPr>
              <a:t>10</a:t>
            </a:r>
          </a:p>
        </p:txBody>
      </p:sp>
      <p:sp>
        <p:nvSpPr>
          <p:cNvPr id="5" name="Text 2"/>
          <p:cNvSpPr/>
          <p:nvPr/>
        </p:nvSpPr>
        <p:spPr>
          <a:xfrm>
            <a:off x="931793" y="2683528"/>
            <a:ext cx="231372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71728" y="2504142"/>
            <a:ext cx="982707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D3838"/>
                </a:solidFill>
                <a:latin typeface="Aptos Narrow" panose="020B0004020202020204" pitchFamily="34" charset="0"/>
                <a:ea typeface="Montserrat Bold" pitchFamily="34" charset="-122"/>
                <a:cs typeface="Montserrat Bold" pitchFamily="34" charset="-120"/>
              </a:rPr>
              <a:t>Produktkategorien &amp; Regionen fokussieren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471728" y="2853468"/>
            <a:ext cx="9615372" cy="44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de-DE" sz="1600" dirty="0">
                <a:solidFill>
                  <a:srgbClr val="3D3838"/>
                </a:solidFill>
                <a:latin typeface="Aptos Narrow" panose="020B0004020202020204" pitchFamily="34" charset="0"/>
                <a:ea typeface="Source Sans 3" pitchFamily="34" charset="-122"/>
                <a:cs typeface="Source Sans 3" pitchFamily="34" charset="-120"/>
              </a:rPr>
              <a:t>Marketing- und Vertriebsmaßnahmen auf besonders umsatzstarke Produktkategorien und Kernregionen konzentrieren.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730</Words>
  <Application>Microsoft Office PowerPoint</Application>
  <PresentationFormat>Breitbild</PresentationFormat>
  <Paragraphs>135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Aptos Narrow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Dennis Theiß</dc:creator>
  <cp:lastModifiedBy>Dennis Theiß</cp:lastModifiedBy>
  <cp:revision>176</cp:revision>
  <dcterms:created xsi:type="dcterms:W3CDTF">2026-07-21T11:02:44Z</dcterms:created>
  <dcterms:modified xsi:type="dcterms:W3CDTF">2026-08-21T15:35:31Z</dcterms:modified>
</cp:coreProperties>
</file>